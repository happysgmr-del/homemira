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notesMaster" Target="notesMasters/notesMaster1.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 동포는 19세기 후반부터 형성된 역사적 집단으로, 강제 이주라는 아픈 과거를 지니고 있습니다,. 최근 중앙아시아 국가의 경제적 불안정과 민족 차별을 피해 한국으로의 이주가 급증하고 있으며, 이들은 주로 방문취업(H-2)이나 재외동포(F-4) 비자로 입국합니다,. 이 과정에서 단순한 노동력 공급원이 아닌, 역사적 책무를 동반한 사회통합의 대상으로 바라보는 시각이 중요합니다,.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국내 체류 고려인은 2012년 이후 4배 이상 급증하며 전체 동포 중 8%를 넘어섰습니다. 특히 경기도는 전국 최대의 고려인 거주지로, 안산시를 포함한 공단 지역을 중심으로 경제활동을 위한 커뮤니티가 활성화되어 있습니다. 우즈베키스탄 출신이 다수를 차지하며, 비자 유형은 점차 F-4로 전환되는 추세에 있습니다.</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 지원의 법적 근거는 특별법과 지자체별 조례를 통해 구축되어 있습니다,. 최근 4세에 대한 동포 지위 인정은 가족 단위 정착을 촉진하는 중요한 전환점이 되었습니다. 안산시와 광주광역시는 조례를 바탕으로 종합지원센터를 운영하며 현장 밀착형 서비스를 제공하는 선도적인 모델을 보여주고 있습니다,.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 동포의 주거 형태는 월세 비중이 압도적으로 높아 안정성이 매우 취약합니다. 보증금은 적고 월세 부담은 큰 구조로 인해 경제적 자립이 더뎌지는 악순환이 발생하고 있습니다. 주거지 선택 시 경제적 요인보다는 일자리와 친인척 유무를 우선시하여 특정 지역에 모여 사는 경향이 뚜렷합니다.</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가족 단위 이주가 늘면서 자녀 교육 문제가 핵심 과제로 부상했습니다. 가정 내 러시아어 위주의 생활은 자녀들의 한국어 능력 향상을 더디게 하여 학교 부적응의 주요 원인이 됩니다,. 경제적 지원만큼이나 한국어와 문화를 동시에 배우는 예비학교 시스템 확충이 절실한 시점입니다,.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 동포는 주로 제조업이나 건설업 등 저임금 노동 시장에 분포하고 있습니다. 소득 대비 높은 물가와 주거비로 인해 필수적인 의료 서비스를 포기하는 비율이 매우 높게 나타납니다. 이는 고려인 공동체의 사회적 안전망이 매우 취약함을 의미하며, 체계적인 구직 정보 제공이 필요함을 시사합니다.</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경제적 빈곤과 언어 장벽은 고려인 동포의 건강권을 위협하는 이중고입니다,. 특히 최근의 건강보험 제도 변경은 저소득 고려인 가구에 막대한 금융적 타격을 주고 있습니다. 아파도 병원을 가지 못하는 비율이 높은 만큼, 주요 거점 병원 내 통번역 서비스 배치와 보험료 지원 바우처 도입이 검토되어야 합니다,.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 동포의 심리적 안정은 성공적인 정착을 위한 필수 전제 조건입니다. 역사적 외상과 이주 스트레스가 결합된 PTSD 관리를 위해 초기 사정 단계부터 전문 인력이 개입해야 합니다,. 지역사회 내에서는 안산시의 이주민 정신건강 네트워크와 같은 유관기관 간 협력 체계가 실질적인 도움을 줄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독일과 일본은 우리보다 앞서 해외 동포의 귀환 문제를 경험했으며, 이를 국가적 인적 자산으로 활용했습니다,. 독일의 자격 인증제도는 고려인 전문 인력이 한국에서 단순 노무직으로 전락하는 문제를 해결할 힌트를 제공합니다. 일본의 하마마쓰 모델은 지자체와 교육청이 협력하여 교육 사각지대를 해소한 대표적 우수 사례입니다.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근로 현장에서의 법적 보호는 고려인의 경제적 자립을 지탱하는 기둥입니다. 언어 문제로 인해 임금 체불이나 수당 미지급 등의 피해를 입는 경우가 많으므로 상담 센터의 적극적인 중재가 필요합니다. 특히 출국만기보험금 수령 후 법정 퇴직금과의 차액을 돌려받지 못하는 사례가 빈번하니 주의가 요구됩니다.</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한국의 복잡한 임대차 제도는 고려인들에게 생소한 영역이므로 보증금 보호를 위한 기초 상식 교육이 필수적입니다. 특히 묵시적 갱신 기간에는 임차인이 언제든 해지를 통보할 수 있고 3개월 뒤 효력이 발생한다는 점을 인지해야 합니다. 명의 도용으로 인한 계좌 압류나 과태료 폭탄을 피하기 위해 신분증 관리의 중요성도 강조됩니다.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결혼이민 여성들은 가정 내 폭력이나 부당한 대우를 받을 때 체류권 상실을 가장 두려워합니다. 그러나 법은 자녀 양육권이나 배우자의 귀책사유가 입증될 경우 이들의 독자적인 체류를 보장하고 있습니다,. 범죄 피해 시 강제 퇴거를 걱정하지 않고 신고할 수 있는 통보의무 면제 제도 역시 적극 홍보되어야 합니다.</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안산시는 전국에서 가장 규모 있는 고려인 공동체를 보유한 만큼, 행정적 지원 체계가 매우 구체적입니다. 특히 민간 단체인 ’너머’가 센터 운영을 위탁받아 전문성을 발휘하고 있는 모델은 타 지자체의 벤치마킹 대상입니다,. 지역 주민과의 갈등을 공동체 사업으로 승화시킨 안산의 사례는 사회 통합의 실마리를 제공합니다.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광주 고려인마을은 주민들의 자발적인 참여와 협동조합 시스템이 결합된 독특한 성공 사례입니다. 특히 자체 미디어와 진료소 운영은 국가가 미처 챙기지 못한 세세한 부분까지 보완하는 역할을 합니다. 이러한 공동체의 성장은 고려인 동포가 한국 사회의 짐이 아닌, 풍요로운 다양성을 더하는 자산임을 증명합니다.</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고려인들에게 한국어는 생존과 직결된 기술이지만, 장시간 노동 환경이 이를 가로막고 있습니다,. 지원 기관들은 평일 주간 위주의 교육 방식을 탈피하여, 주말 및 야간반을 대폭 확대해야 합니다. 또한 고려인 3~4세 전문가들을 강사로 활용하는 등 세대별 특성을 반영한 교육 모델이 요구됩니다,.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사회 통합은 고려인들의 일방적인 동화가 아닌, 선주민과의 상호 존중에서 시작됩니다,. 서로의 언어와 음식을 배우는 작은 시도들이 쌓여 특정 지역의 게토화를 막고 조화로운 마을을 만듭니다,. 역사적 책임 의식을 바탕으로 고려인을 가족의 일원으로 대우할 때 우리 사회의 품격도 올라갑니다.</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정책의 패러다임이 ’외국인 인력 관리’에서 ’동포 정착 지원’으로 전환되어야 합니다,. 법적 제도의 정비와 함께 보육료 지원이나 의료비 경감 같은 피부에 닿는 복지가 뒤따라야 합니다,. 특히 고려인 4~5세 아이들이 한국 사회의 당당한 주역으로 성장할 수 있도록 교육 기회를 평등하게 보장하는 것이 국가의 미래를 위한 투자입니다,.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고려인 동포 정착 실태와 지원 방안</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고려인 동포의 역사적 형성과 이주 배경</a:t>
            </a:r>
          </a:p>
        </p:txBody>
      </p:sp>
      <p:sp>
        <p:nvSpPr>
          <p:cNvPr id="3" name="Content Placeholder 2"/>
          <p:cNvSpPr>
            <a:spLocks noGrp="1"/>
          </p:cNvSpPr>
          <p:nvPr>
            <p:ph idx="1"/>
          </p:nvPr>
        </p:nvSpPr>
        <p:spPr/>
        <p:txBody>
          <a:bodyPr/>
          <a:lstStyle/>
          <a:p>
            <a:pPr lvl="0"/>
            <a:r>
              <a:rPr/>
              <a:t>1860년대부터 구한말 기근과 독립운동 및 강제동원 등으로 연해주 지역에 형성된 한민족 공동체,</a:t>
            </a:r>
          </a:p>
          <a:p>
            <a:pPr lvl="0"/>
            <a:r>
              <a:rPr/>
              <a:t>1937년 스탈린의 이주 정책에 의해 중앙아시아 지역으로 강제 이주당하며 겪은 민족적 수난의 역사,</a:t>
            </a:r>
          </a:p>
          <a:p>
            <a:pPr lvl="0"/>
            <a:r>
              <a:rPr/>
              <a:t>1990년대 소련 해체 이후 체제 변환기의 혼란과 경제적 어려움을 피하기 위한 국외 이주 현상 발생,</a:t>
            </a:r>
          </a:p>
          <a:p>
            <a:pPr lvl="0"/>
            <a:r>
              <a:rPr/>
              <a:t>2007년 방문취업제(H-2) 도입 이후 일자리를 찾아 고국인 한국으로 유입되는 사례의 비약적 증가,</a:t>
            </a:r>
          </a:p>
          <a:p>
            <a:pPr lvl="0"/>
            <a:r>
              <a:rPr/>
              <a:t>단순 외국인 노동자가 아닌 역사적 아픔을 공유한 한민족 동포로서의 정체성과 사회통합의 필요성 대두,</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국내 거주 고려인 동포의 현황</a:t>
            </a:r>
          </a:p>
        </p:txBody>
      </p:sp>
      <p:sp>
        <p:nvSpPr>
          <p:cNvPr id="3" name="Content Placeholder 2"/>
          <p:cNvSpPr>
            <a:spLocks noGrp="1"/>
          </p:cNvSpPr>
          <p:nvPr>
            <p:ph idx="1"/>
          </p:nvPr>
        </p:nvSpPr>
        <p:spPr/>
        <p:txBody>
          <a:bodyPr/>
          <a:lstStyle/>
          <a:p>
            <a:pPr lvl="0"/>
            <a:r>
              <a:rPr/>
              <a:t>2019년 6월 기준 국내 거소 신고된 고려인 동포는 약 74,111명으로 매년 가파른 증가세 기록</a:t>
            </a:r>
          </a:p>
          <a:p>
            <a:pPr lvl="0"/>
            <a:r>
              <a:rPr/>
              <a:t>전국 고려인 인구의 약 40%인 28,522명이 경기도에 집중되어 거주하는 지역적 편중 현상 뚜렷,</a:t>
            </a:r>
          </a:p>
          <a:p>
            <a:pPr lvl="0"/>
            <a:r>
              <a:rPr/>
              <a:t>안산시(14,817명)를 중심으로 화성, 안성, 평택 등 공단 인접 지역에 대규모 집거지 형성</a:t>
            </a:r>
          </a:p>
          <a:p>
            <a:pPr lvl="0"/>
            <a:r>
              <a:rPr/>
              <a:t>우즈베키스탄 출신이 61.9%로 가장 많으며 카자흐스탄과 러시아 출신이 그 뒤를 잇는 인구 구조</a:t>
            </a:r>
          </a:p>
          <a:p>
            <a:pPr lvl="0"/>
            <a:r>
              <a:rPr/>
              <a:t>재외동포(F-4) 비자 소지자가 51.8%로 절반 이상을 차지하며 방문취업(H-2) 비자와 공존하는 상태</a:t>
            </a:r>
          </a:p>
          <a:p>
            <a:pPr lvl="0" indent="0" marL="0">
              <a:buNone/>
            </a:pPr>
            <a:r>
              <a:rPr b="1"/>
              <a:t>&lt;표 1&gt; 연도별 고려인 국내 거소 신고 현황 (단위: 명, %)</a:t>
            </a:r>
            <a:r>
              <a:rPr/>
              <a:t> | 연도 | 외국국적동포 전체 | 고려인 동포 수 | 동포 내 비율 | | :— | :—: | :—: | :—: | | 2012년 | 541,783 | 17,652 | 3.3% | | 2015년 | 754,427 | 32,270 | 4.3% | | 2018년 | 878,665 | 70,451 | 8.0% | | 2019년 6월 | 885,745 | 74,111 | 8.4% |</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법적 정의와 지자체 지원 조례</a:t>
            </a:r>
          </a:p>
        </p:txBody>
      </p:sp>
      <p:sp>
        <p:nvSpPr>
          <p:cNvPr id="3" name="Content Placeholder 2"/>
          <p:cNvSpPr>
            <a:spLocks noGrp="1"/>
          </p:cNvSpPr>
          <p:nvPr>
            <p:ph idx="1"/>
          </p:nvPr>
        </p:nvSpPr>
        <p:spPr/>
        <p:txBody>
          <a:bodyPr/>
          <a:lstStyle/>
          <a:p>
            <a:pPr lvl="0"/>
            <a:r>
              <a:rPr/>
              <a:t>고려인동포법에 따른 1860년부터 1945년 8월 15일까지 러시아 지역 이주자 및 그 직계비속 정의,</a:t>
            </a:r>
          </a:p>
          <a:p>
            <a:pPr lvl="0"/>
            <a:r>
              <a:rPr/>
              <a:t>재외동포법 시행령 개정으로 고려인 4세까지 동포 범위에 포함되어 가족 단위 체류 안정성 확보,</a:t>
            </a:r>
          </a:p>
          <a:p>
            <a:pPr lvl="0"/>
            <a:r>
              <a:rPr/>
              <a:t>광주광역시와 경기도 등 전국 6개 주요 지자체에서 고려인 주민 지원을 위한 전용 조례 시행</a:t>
            </a:r>
          </a:p>
          <a:p>
            <a:pPr lvl="0"/>
            <a:r>
              <a:rPr/>
              <a:t>조례를 근거로 한 한국어 교육, 보건의료, 자녀 돌봄 및 법률 상담 등 다각적 행정 서비스 제공</a:t>
            </a:r>
          </a:p>
          <a:p>
            <a:pPr lvl="0"/>
            <a:r>
              <a:rPr/>
              <a:t>국적 취득 귀화자와 그 직계비속까지 지원 대상에 포괄할 수 있는 제도적 유연성 확보의 필요성,</a:t>
            </a:r>
          </a:p>
          <a:p>
            <a:pPr lvl="0" indent="0" marL="0">
              <a:buNone/>
            </a:pPr>
            <a:r>
              <a:rPr b="1"/>
              <a:t>&lt;표 2&gt; 주요 지방자치단체 고려인 지원 조례 제정 현황</a:t>
            </a:r>
            <a:r>
              <a:rPr/>
              <a:t> | 지자체명 | 제정일 | 주요 지원 내용 | 비고 | | :— | :—: | :— | :— | | 광주광역시 | 2013년 | 거주지 안정, 교육, 인권 옹호 | 전국 최초 | | 경기도 | 2016년 | 한국어 교육, 보건의료 지원 | 최다 거주 | | 안산시 | 2018년 | 지원위원회 설치, 민간 위탁 | 집거지 특화 |</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주거 환경 및 점유 형태의 취약성</a:t>
            </a:r>
          </a:p>
        </p:txBody>
      </p:sp>
      <p:sp>
        <p:nvSpPr>
          <p:cNvPr id="3" name="Content Placeholder 2"/>
          <p:cNvSpPr>
            <a:spLocks noGrp="1"/>
          </p:cNvSpPr>
          <p:nvPr>
            <p:ph idx="1"/>
          </p:nvPr>
        </p:nvSpPr>
        <p:spPr/>
        <p:txBody>
          <a:bodyPr/>
          <a:lstStyle/>
          <a:p>
            <a:pPr lvl="0"/>
            <a:r>
              <a:rPr/>
              <a:t>응답자의 84.7%가 ’보증금 있는 월세’에 거주하며 자가 소유 비율은 1.3%인 열악한 주거 현실</a:t>
            </a:r>
          </a:p>
          <a:p>
            <a:pPr lvl="0"/>
            <a:r>
              <a:rPr/>
              <a:t>일반 주민 대비 보증금은 1/7 수준으로 낮고 월세는 10만 원가량 높은 저효율 주거 구조</a:t>
            </a:r>
          </a:p>
          <a:p>
            <a:pPr lvl="0"/>
            <a:r>
              <a:rPr/>
              <a:t>직장 및 학교와의 접근성(49.7%)과 친인척 네트워크(29.4%)를 주거지 결정의 가장 중요한 요인으로 고려</a:t>
            </a:r>
          </a:p>
          <a:p>
            <a:pPr lvl="0"/>
            <a:r>
              <a:rPr/>
              <a:t>거주지의 안전성에 대해서는 3.9점(5점 만점)으로 비교적 높으나 공공시설 만족도는 보통 수준에 머묾</a:t>
            </a:r>
          </a:p>
          <a:p>
            <a:pPr lvl="0"/>
            <a:r>
              <a:rPr/>
              <a:t>한국 거주 기간이 5년 이상으로 길어질수록 보증금 규모가 상승하며 점차 안정적인 형태로 전이됨</a:t>
            </a:r>
          </a:p>
          <a:p>
            <a:pPr lvl="0" indent="0" marL="0">
              <a:buNone/>
            </a:pPr>
            <a:r>
              <a:rPr b="1"/>
              <a:t>&lt;표 3&gt; 고려인 동포와 일반 주민의 주거 비용 비교 (2018년 기준)</a:t>
            </a:r>
            <a:r>
              <a:rPr/>
              <a:t> | 항목 | 고려인 동포 | 경기도 평균 | 전국 평균 | | :— | :—: | :—: | :—: | | 평균 보증금 | 431만 원 | 2,918만 원 | 2,103만 원 | | 평균 월세 | 43만 원 | 33만 원 | 30만 원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자녀 양육 및 중도 입국 학생 교육</a:t>
            </a:r>
          </a:p>
        </p:txBody>
      </p:sp>
      <p:sp>
        <p:nvSpPr>
          <p:cNvPr id="3" name="Content Placeholder 2"/>
          <p:cNvSpPr>
            <a:spLocks noGrp="1"/>
          </p:cNvSpPr>
          <p:nvPr>
            <p:ph idx="1"/>
          </p:nvPr>
        </p:nvSpPr>
        <p:spPr/>
        <p:txBody>
          <a:bodyPr/>
          <a:lstStyle/>
          <a:p>
            <a:pPr lvl="0"/>
            <a:r>
              <a:rPr/>
              <a:t>고려인 가구의 72.5%가 자녀를 동반하고 있으며 이 중 절반 이상이 한국 학교에 재학 중,</a:t>
            </a:r>
          </a:p>
          <a:p>
            <a:pPr lvl="0"/>
            <a:r>
              <a:rPr/>
              <a:t>양육 시 겪는 가장 큰 고충으로 경제적 부담(37.9%)과 언어 장벽에 의한 대화 단절(10.2%) 발생</a:t>
            </a:r>
          </a:p>
          <a:p>
            <a:pPr lvl="0"/>
            <a:r>
              <a:rPr/>
              <a:t>가정 내 러시아어 사용 비중이 92.5%에 달해 자녀들의 한국어 습득 및 학교 적응의 걸림돌로 작용</a:t>
            </a:r>
          </a:p>
          <a:p>
            <a:pPr lvl="0"/>
            <a:r>
              <a:rPr/>
              <a:t>한국어 교육(79.9%)을 자녀를 위해 가장 시급한 프로그램으로 꼽으며 공교육 적응 지원을 희망</a:t>
            </a:r>
          </a:p>
          <a:p>
            <a:pPr lvl="0"/>
            <a:r>
              <a:rPr/>
              <a:t>중도 입국 학생의 정체성 혼란과 언어 미숙으로 인한 학교 현장에서의 따돌림 및 부적응 사례,</a:t>
            </a:r>
          </a:p>
          <a:p>
            <a:pPr lvl="0" indent="0" marL="0">
              <a:buNone/>
            </a:pPr>
            <a:r>
              <a:rPr b="1"/>
              <a:t>[사례 요약: 교육 사각지대]</a:t>
            </a:r>
            <a:r>
              <a:rPr/>
              <a:t> - </a:t>
            </a:r>
            <a:r>
              <a:rPr b="1"/>
              <a:t>사례:</a:t>
            </a:r>
            <a:r>
              <a:rPr/>
              <a:t> 러시아 출신 조OO 씨의 자녀들은 한국어 미숙과 이름으로 인한 놀림 때문에 한국 학교 대신 러시아 대사관 학교를 선택함. - </a:t>
            </a:r>
            <a:r>
              <a:rPr b="1"/>
              <a:t>문제점:</a:t>
            </a:r>
            <a:r>
              <a:rPr/>
              <a:t> 공교육 이탈로 인한 한국 사회 적응 지체와 러시아 학력 인정을 위한 이중의 비용 발생.</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경제 활동과 고용 환경 실태</a:t>
            </a:r>
          </a:p>
        </p:txBody>
      </p:sp>
      <p:sp>
        <p:nvSpPr>
          <p:cNvPr id="3" name="Content Placeholder 2"/>
          <p:cNvSpPr>
            <a:spLocks noGrp="1"/>
          </p:cNvSpPr>
          <p:nvPr>
            <p:ph idx="1"/>
          </p:nvPr>
        </p:nvSpPr>
        <p:spPr/>
        <p:txBody>
          <a:bodyPr/>
          <a:lstStyle/>
          <a:p>
            <a:pPr lvl="0"/>
            <a:r>
              <a:rPr/>
              <a:t>응답자의 57.6%가 공장 및 건설 현장의 단순 노무직에 종사하며 미숙련 노동자로 분류되는 상황</a:t>
            </a:r>
          </a:p>
          <a:p>
            <a:pPr lvl="0"/>
            <a:r>
              <a:rPr/>
              <a:t>가구당 월평균 소득은 316만 원 수준이나 식비와 주거비 등 고정 지출 비중이 매우 높음,</a:t>
            </a:r>
          </a:p>
          <a:p>
            <a:pPr lvl="0"/>
            <a:r>
              <a:rPr/>
              <a:t>지난 1년 동안 돈이 없어 치과(36.5%)나 병원(28.9%) 진료를 포기한 경험이 한국인 대비 월등히 높음</a:t>
            </a:r>
          </a:p>
          <a:p>
            <a:pPr lvl="0"/>
            <a:r>
              <a:rPr/>
              <a:t>응답자 4명 중 1명은 경제적 사정으로 인해 전기나 수도 등 공과금을 체납한 생활고 경험</a:t>
            </a:r>
          </a:p>
          <a:p>
            <a:pPr lvl="0"/>
            <a:r>
              <a:rPr/>
              <a:t>지인 추천(81.5%)에 의존하는 비공식적 구직 경로로 인해 정보 접근성의 한계와 고용 불안정성 상존</a:t>
            </a:r>
          </a:p>
          <a:p>
            <a:pPr lvl="0" indent="0" marL="0">
              <a:buNone/>
            </a:pPr>
            <a:r>
              <a:rPr b="1"/>
              <a:t>&lt;표 4&gt; 경제적 빈곤 및 생활고 경험 비율 (단위: %)</a:t>
            </a:r>
            <a:r>
              <a:rPr/>
              <a:t> | 빈곤 항목 | 경험 있음(있다) | 비고 | | :— | :—: | :— | | 치과 치료 포기 | 36.5% | 가장 높은 비율 | | 병원 진료 포기 | 28.9% | 건강권 위협 | | 공과금 체납 | 25.1% | 기본권 위협 | | 집세 체납 및 이사 | 15.8% | 주거 불안 |</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건강 상태 및 의료 서비스 접근성</a:t>
            </a:r>
          </a:p>
        </p:txBody>
      </p:sp>
      <p:sp>
        <p:nvSpPr>
          <p:cNvPr id="3" name="Content Placeholder 2"/>
          <p:cNvSpPr>
            <a:spLocks noGrp="1"/>
          </p:cNvSpPr>
          <p:nvPr>
            <p:ph idx="1"/>
          </p:nvPr>
        </p:nvSpPr>
        <p:spPr/>
        <p:txBody>
          <a:bodyPr/>
          <a:lstStyle/>
          <a:p>
            <a:pPr lvl="0"/>
            <a:r>
              <a:rPr/>
              <a:t>스스로 건강하다고 인식하는 비율은 38.8%이며 연령대가 높을수록 건강 상태를 부정적으로 평가,</a:t>
            </a:r>
          </a:p>
          <a:p>
            <a:pPr lvl="0"/>
            <a:r>
              <a:rPr/>
              <a:t>건강보험 가입 형태는 지역가입자가 58.4%로 가장 많으며 무보험 사각지대 인구도 10.7% 존재</a:t>
            </a:r>
          </a:p>
          <a:p>
            <a:pPr lvl="0"/>
            <a:r>
              <a:rPr/>
              <a:t>의료 기관 이용 시 의사소통의 어려움(21%)과 비싼 병원비(16.1%)가 제때 치료받지 못하는 주요 원인</a:t>
            </a:r>
          </a:p>
          <a:p>
            <a:pPr lvl="0"/>
            <a:r>
              <a:rPr/>
              <a:t>건강보험법 개정에 따른 외국인 지역가입 당연 적용으로 소득 없는 고령자의 보험료 부담 가중,</a:t>
            </a:r>
          </a:p>
          <a:p>
            <a:pPr lvl="0"/>
            <a:r>
              <a:rPr/>
              <a:t>탈북 과정이나 이주 전후 겪은 외상적 경험에 따른 외상 후 스트레스 장애(PTSD) 위험군 관리 시급,</a:t>
            </a:r>
          </a:p>
          <a:p>
            <a:pPr lvl="0" indent="0" marL="0">
              <a:buNone/>
            </a:pPr>
            <a:r>
              <a:rPr b="1"/>
              <a:t>[사례 요약: 의료비 부담]</a:t>
            </a:r>
            <a:r>
              <a:rPr/>
              <a:t> - </a:t>
            </a:r>
            <a:r>
              <a:rPr b="1"/>
              <a:t>사례:</a:t>
            </a:r>
            <a:r>
              <a:rPr/>
              <a:t> 입국 직후 응급실 진료를 받았으나 보험 미적용으로 수천만 원의 병원비가 청구되어 해결 불능 상태에 빠진 사례 발생. - </a:t>
            </a:r>
            <a:r>
              <a:rPr b="1"/>
              <a:t>원인:</a:t>
            </a:r>
            <a:r>
              <a:rPr/>
              <a:t> 입국 후 3개월~6개월 경과 시점부터 보험 가입이 가능한 제도적 공백기에 사고 발생.</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정신건강 증진 및 트라우마 관리</a:t>
            </a:r>
          </a:p>
        </p:txBody>
      </p:sp>
      <p:sp>
        <p:nvSpPr>
          <p:cNvPr id="3" name="Content Placeholder 2"/>
          <p:cNvSpPr>
            <a:spLocks noGrp="1"/>
          </p:cNvSpPr>
          <p:nvPr>
            <p:ph idx="1"/>
          </p:nvPr>
        </p:nvSpPr>
        <p:spPr/>
        <p:txBody>
          <a:bodyPr/>
          <a:lstStyle/>
          <a:p>
            <a:pPr lvl="0"/>
            <a:r>
              <a:rPr/>
              <a:t>강제 이주와 탈출 과정에서 겪은 심각한 외상(Trauma)이 불안과 우울 및 PTSD 증상 유발,</a:t>
            </a:r>
          </a:p>
          <a:p>
            <a:pPr lvl="0"/>
            <a:r>
              <a:rPr/>
              <a:t>남한 주민 대비 높은 우울증 지각 수준을 보이며 만성 질환자와 유사한 심리 상태를 나타내는 경향</a:t>
            </a:r>
          </a:p>
          <a:p>
            <a:pPr lvl="0"/>
            <a:r>
              <a:rPr/>
              <a:t>초기 정착지인 하나원 단계부터 전문가팀에 의한 체계적인 심리 사정과 정신건강 중재 서비스 필요,</a:t>
            </a:r>
          </a:p>
          <a:p>
            <a:pPr lvl="0"/>
            <a:r>
              <a:rPr/>
              <a:t>지역사회 정신건강복지센터와 연계하여 문화적 적응 스트레스를 관리하는 사례 관리 시스템 구축,</a:t>
            </a:r>
          </a:p>
          <a:p>
            <a:pPr lvl="0"/>
            <a:r>
              <a:rPr/>
              <a:t>2022년 개정된 한국형 PTSD 치료 지침을 적용하여 증상 조절을 통한 삶의 질 향상 도모,</a:t>
            </a:r>
          </a:p>
          <a:p>
            <a:pPr lvl="0" indent="0" marL="0">
              <a:buNone/>
            </a:pPr>
            <a:r>
              <a:rPr b="1"/>
              <a:t>&lt;인포그래픽 1&gt; 고려인 정신건강 지원 전달체계 흐름</a:t>
            </a:r>
            <a:r>
              <a:rPr/>
              <a:t> [입국 초기] -&gt; [하나원 정신보건팀 사정] -&gt; [전문 상담 및 치료] | [지역사회 안착] -&gt; [정신건강복지센터 사례관리] -&gt; [사회 통합]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해외 국가의 귀환 동포 정책 사례</a:t>
            </a:r>
          </a:p>
        </p:txBody>
      </p:sp>
      <p:sp>
        <p:nvSpPr>
          <p:cNvPr id="3" name="Content Placeholder 2"/>
          <p:cNvSpPr>
            <a:spLocks noGrp="1"/>
          </p:cNvSpPr>
          <p:nvPr>
            <p:ph idx="1"/>
          </p:nvPr>
        </p:nvSpPr>
        <p:spPr/>
        <p:txBody>
          <a:bodyPr/>
          <a:lstStyle/>
          <a:p>
            <a:pPr lvl="0"/>
            <a:r>
              <a:rPr/>
              <a:t>독일은 구소련 출신 독일계 동포를 ’재이주자’로 인정하고 시민권 부여와 주택 보조금을 파격 지원,</a:t>
            </a:r>
          </a:p>
          <a:p>
            <a:pPr lvl="0"/>
            <a:r>
              <a:rPr/>
              <a:t>독일의 BQFG 법률을 통해 해외에서 취득한 직업 자격을 검증하여 전문 인력으로 활용하는 정책 시행,</a:t>
            </a:r>
          </a:p>
          <a:p>
            <a:pPr lvl="0"/>
            <a:r>
              <a:rPr/>
              <a:t>일본은 지방 정부를 중심으로 ’외국인 집주 도시 회의’를 결성하여 일계인의 정주화를 행정적으로 지원,</a:t>
            </a:r>
          </a:p>
          <a:p>
            <a:pPr lvl="0"/>
            <a:r>
              <a:rPr/>
              <a:t>일본 하마마쓰 모델의 ’취학하지 않은 아동 제로 작전’을 통해 외국인 자녀의 학습권 보장 성공,</a:t>
            </a:r>
          </a:p>
          <a:p>
            <a:pPr lvl="0"/>
            <a:r>
              <a:rPr/>
              <a:t>국제 사례는 단순 시혜적 복지를 넘어 동등한 국민으로서의 지위 부여와 정주형 정책이 핵심임을 시사</a:t>
            </a:r>
          </a:p>
          <a:p>
            <a:pPr lvl="0" indent="0" marL="0">
              <a:buNone/>
            </a:pPr>
            <a:r>
              <a:rPr b="1"/>
              <a:t>&lt;표 5&gt; 독일과 일본의 동포 지원 정책 비교</a:t>
            </a:r>
            <a:r>
              <a:rPr/>
              <a:t> | 국가 | 정책 기조 | 핵심 성과 | | :— | :— | :— | | 독일 | 역사적 책임 의식 | 시민권 부여, 직업 자격 인증법 시행 | | 일본 | 다문화 공생 도시 | 아동 취학 지원(하마마쓰 모델), 생활 정보 다언어화 | | 한국 | 초기 적응 지원 | 비자 완화, 사회통합프로그램 운영 |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상담 매뉴얼 기반 근로 관계 보호</a:t>
            </a:r>
          </a:p>
        </p:txBody>
      </p:sp>
      <p:sp>
        <p:nvSpPr>
          <p:cNvPr id="3" name="Content Placeholder 2"/>
          <p:cNvSpPr>
            <a:spLocks noGrp="1"/>
          </p:cNvSpPr>
          <p:nvPr>
            <p:ph idx="1"/>
          </p:nvPr>
        </p:nvSpPr>
        <p:spPr/>
        <p:txBody>
          <a:bodyPr/>
          <a:lstStyle/>
          <a:p>
            <a:pPr lvl="0"/>
            <a:r>
              <a:rPr/>
              <a:t>상시 5인 이상 사업장의 경우 연장·야간·휴일 수당과 퇴직금 등 근로기준법 규정 전면 적용</a:t>
            </a:r>
          </a:p>
          <a:p>
            <a:pPr lvl="0"/>
            <a:r>
              <a:rPr/>
              <a:t>임금 체불 발생 시 고용노동청 진정을 통해 체불금품 확인원을 발급받고 보증보험금 청구 가능,</a:t>
            </a:r>
          </a:p>
          <a:p>
            <a:pPr lvl="0"/>
            <a:r>
              <a:rPr/>
              <a:t>1년 이상 근무 시 30일분 이상의 평균임금을 퇴직금으로 수령하며 출국만기보험 차액을 확인,</a:t>
            </a:r>
          </a:p>
          <a:p>
            <a:pPr lvl="0"/>
            <a:r>
              <a:rPr/>
              <a:t>산업재해 발생 시 미등록 체류자나 5인 미만 농가 근로자도 사업주에게 재해 보상 청구 권리 보유,</a:t>
            </a:r>
          </a:p>
          <a:p>
            <a:pPr lvl="0"/>
            <a:r>
              <a:rPr/>
              <a:t>직장 내 괴롭힘 및 성희롱 피해 시 상담 지원을 통해 사업장 변경 및 법적 대응 절차 진행,</a:t>
            </a:r>
          </a:p>
          <a:p>
            <a:pPr lvl="0" indent="0" marL="0">
              <a:buNone/>
            </a:pPr>
            <a:r>
              <a:rPr b="1"/>
              <a:t>&lt;표 6&gt; 외국인 근로자 권리 구제 주요 절차</a:t>
            </a:r>
            <a:r>
              <a:rPr/>
              <a:t> | 단계 | 업무 내용 | 관련 기관 | | :—: | :— | :— | | 1 | 기초 상담 및 사실 확인 | 외국인 지원 센터 | | 2 | 진정서 접수 및 조사 | 고용노동청 | | 3 | 체불 확인원 발급 | 고용노동청 | | 4 | 보증보험/체당금 신청 | 보험사/근로복지공단 | ,</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주택 임대차 보호 및 생활 법률</a:t>
            </a:r>
          </a:p>
        </p:txBody>
      </p:sp>
      <p:sp>
        <p:nvSpPr>
          <p:cNvPr id="3" name="Content Placeholder 2"/>
          <p:cNvSpPr>
            <a:spLocks noGrp="1"/>
          </p:cNvSpPr>
          <p:nvPr>
            <p:ph idx="1"/>
          </p:nvPr>
        </p:nvSpPr>
        <p:spPr/>
        <p:txBody>
          <a:bodyPr/>
          <a:lstStyle/>
          <a:p>
            <a:pPr lvl="0"/>
            <a:r>
              <a:rPr/>
              <a:t>주택 인도와 전입신고 후 확정일자를 갖추면 경매 시 후순위 권리자보다 우선하여 보증금 변제</a:t>
            </a:r>
          </a:p>
          <a:p>
            <a:pPr lvl="0"/>
            <a:r>
              <a:rPr/>
              <a:t>계약 기간 종료 2개월 전까지 갱신 거절 통지가 없으면 이전과 동일한 조건으로 묵시적 갱신 성립</a:t>
            </a:r>
          </a:p>
          <a:p>
            <a:pPr lvl="0"/>
            <a:r>
              <a:rPr/>
              <a:t>임대차 기간 중 주택 소유자가 변경되어도 임대인의 지위가 승계되어 계약 기간 동안 거주 가능</a:t>
            </a:r>
          </a:p>
          <a:p>
            <a:pPr lvl="0"/>
            <a:r>
              <a:rPr/>
              <a:t>보증금을 돌려받지 못한 채 이사해야 할 경우 대항력 유지를 위해 반드시 ‘임차권등기명령’ 신청</a:t>
            </a:r>
          </a:p>
          <a:p>
            <a:pPr lvl="0"/>
            <a:r>
              <a:rPr/>
              <a:t>타인에게 외국인등록증이나 명의를 대여하는 행위는 대포차 등 범죄에 악용될 수 있어 절대 엄금</a:t>
            </a:r>
          </a:p>
          <a:p>
            <a:pPr lvl="0" indent="0" marL="0">
              <a:buNone/>
            </a:pPr>
            <a:r>
              <a:rPr b="1"/>
              <a:t>&lt;표 7&gt; 주택 임대차 관련 주요 법적 장치</a:t>
            </a:r>
            <a:r>
              <a:rPr/>
              <a:t> | 제도명 | 목적 | 신청 시기 | | :— | :— | :— | | 확정일자 | 보증금 우선 변제권 확보 | 전입신고 시 | | 묵시적 갱신 | 거주 기간의 자동 연장 | 만료 2개월 전까지 | | 임차권등기명령 | 이사 후 대항력 유지 | 계약 종료 이후 | ,</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이주여성 보호 및 가족 안정화</a:t>
            </a:r>
          </a:p>
        </p:txBody>
      </p:sp>
      <p:sp>
        <p:nvSpPr>
          <p:cNvPr id="3" name="Content Placeholder 2"/>
          <p:cNvSpPr>
            <a:spLocks noGrp="1"/>
          </p:cNvSpPr>
          <p:nvPr>
            <p:ph idx="1"/>
          </p:nvPr>
        </p:nvSpPr>
        <p:spPr/>
        <p:txBody>
          <a:bodyPr/>
          <a:lstStyle/>
          <a:p>
            <a:pPr lvl="0"/>
            <a:r>
              <a:rPr/>
              <a:t>국민의 배우자(F-6-1) 자격 입국 시 소득 요건과 주거 요건 및 한국어 구사 능력 입증 필요,</a:t>
            </a:r>
          </a:p>
          <a:p>
            <a:pPr lvl="0"/>
            <a:r>
              <a:rPr/>
              <a:t>가정폭력이나 배우자의 귀책사유로 이혼한 경우에도 F-6-3 자격으로 체류 연장 및 정착 가능,</a:t>
            </a:r>
          </a:p>
          <a:p>
            <a:pPr lvl="0"/>
            <a:r>
              <a:rPr/>
              <a:t>미성년 자녀를 직접 양육하거나 면접교섭권을 가진 경우 자녀가 성년이 될 때까지 체류 허용</a:t>
            </a:r>
          </a:p>
          <a:p>
            <a:pPr lvl="0"/>
            <a:r>
              <a:rPr/>
              <a:t>국적 취득 시 사회통합프로그램을 이수하면 귀화 필기시험과 면접 심사를 면제받는 혜택 부여</a:t>
            </a:r>
          </a:p>
          <a:p>
            <a:pPr lvl="0"/>
            <a:r>
              <a:rPr/>
              <a:t>미등록 체류 여성이라도 범죄 피해 사실을 경찰에 신고할 경우 ‘통보의무 면제’ 제도로 보호</a:t>
            </a:r>
          </a:p>
          <a:p>
            <a:pPr lvl="0" indent="0" marL="0">
              <a:buNone/>
            </a:pPr>
            <a:r>
              <a:rPr b="1"/>
              <a:t>[사례 요약: 혼인 단절자의 권리]</a:t>
            </a:r>
            <a:r>
              <a:rPr/>
              <a:t> - </a:t>
            </a:r>
            <a:r>
              <a:rPr b="1"/>
              <a:t>사례:</a:t>
            </a:r>
            <a:r>
              <a:rPr/>
              <a:t> 대법원은 혼인 파탄의 ’전적인 책임’이 아닌 ’주된 책임’이 한국인 배우자에게 있다면 F-6-3 체류 자격을 부여해야 한다고 판결함. - </a:t>
            </a:r>
            <a:r>
              <a:rPr b="1"/>
              <a:t>의의:</a:t>
            </a:r>
            <a:r>
              <a:rPr/>
              <a:t> 이주여성이 폭력 상황에서 벗어나 국내에 안정적으로 계속 체류할 수 있는 법적 통로 확대.</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안산시 지역 사회 지원 우수 사례</a:t>
            </a:r>
          </a:p>
        </p:txBody>
      </p:sp>
      <p:sp>
        <p:nvSpPr>
          <p:cNvPr id="3" name="Content Placeholder 2"/>
          <p:cNvSpPr>
            <a:spLocks noGrp="1"/>
          </p:cNvSpPr>
          <p:nvPr>
            <p:ph idx="1"/>
          </p:nvPr>
        </p:nvSpPr>
        <p:spPr/>
        <p:txBody>
          <a:bodyPr/>
          <a:lstStyle/>
          <a:p>
            <a:pPr lvl="0"/>
            <a:r>
              <a:rPr/>
              <a:t>안산시는 전국 최초로 ’고려인 주민 지원 조례’를 제정하고 민관 협력을 통한 전용 문화센터 운영,</a:t>
            </a:r>
          </a:p>
          <a:p>
            <a:pPr lvl="0"/>
            <a:r>
              <a:rPr/>
              <a:t>사단법인 ’너머’와 협력하여 성인 한국어 교육, 청소년 방과 후 교실 등 맞춤형 교육 사업 시행,</a:t>
            </a:r>
          </a:p>
          <a:p>
            <a:pPr lvl="0"/>
            <a:r>
              <a:rPr/>
              <a:t>노동 문제, 법률 상담, 의료 및 장례 지원 등 고려인들의 일상생활 전반을 아우르는 종합 정보 서비스 제공</a:t>
            </a:r>
          </a:p>
          <a:p>
            <a:pPr lvl="0"/>
            <a:r>
              <a:rPr/>
              <a:t>고려인 자조 모임과 동아리 활동(한국무용, 방범대 등) 지원을 통해 지역 사회 구성원으로서의 역량 강화,</a:t>
            </a:r>
          </a:p>
          <a:p>
            <a:pPr lvl="0"/>
            <a:r>
              <a:rPr/>
              <a:t>고려인 생활 문화 특별 전시관을 운영하여 주민들에게 고려인의 역사와 문화를 알리는 소통 창구 역할,</a:t>
            </a:r>
          </a:p>
          <a:p>
            <a:pPr lvl="0" indent="0" marL="0">
              <a:buNone/>
            </a:pPr>
            <a:r>
              <a:rPr b="1"/>
              <a:t>[사례 요약: 안산시 선부동 땟골 마을]</a:t>
            </a:r>
            <a:r>
              <a:rPr/>
              <a:t> - </a:t>
            </a:r>
            <a:r>
              <a:rPr b="1"/>
              <a:t>내용:</a:t>
            </a:r>
            <a:r>
              <a:rPr/>
              <a:t> 쓰레기 분리배출 등 생활 습관 차이로 인한 초기 갈등을 러시아어 안내문 부착과 주민 자치 활동으로 극복함. - </a:t>
            </a:r>
            <a:r>
              <a:rPr b="1"/>
              <a:t>성과:</a:t>
            </a:r>
            <a:r>
              <a:rPr/>
              <a:t> 고려인을 ’성실한 세입자’이자 ’지역 경제 활성화의 주축’으로 인식하는 선주민의 태도 변화 유도.</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광주광역시 고려인마을의 성공 모델</a:t>
            </a:r>
          </a:p>
        </p:txBody>
      </p:sp>
      <p:sp>
        <p:nvSpPr>
          <p:cNvPr id="3" name="Content Placeholder 2"/>
          <p:cNvSpPr>
            <a:spLocks noGrp="1"/>
          </p:cNvSpPr>
          <p:nvPr>
            <p:ph idx="1"/>
          </p:nvPr>
        </p:nvSpPr>
        <p:spPr/>
        <p:txBody>
          <a:bodyPr/>
          <a:lstStyle/>
          <a:p>
            <a:pPr lvl="0"/>
            <a:r>
              <a:rPr/>
              <a:t>광주 광산구 월곡동을 중심으로 고려인 주민들이 스스로 일구어낸 자생적 공동체 ‘고려인마을’ 형성,</a:t>
            </a:r>
          </a:p>
          <a:p>
            <a:pPr lvl="0"/>
            <a:r>
              <a:rPr/>
              <a:t>고려FM 라디오 방송국과 나눔방송 미디어 센터를 통해 정보 소외를 해결하고 동포 간 유대감 강화</a:t>
            </a:r>
          </a:p>
          <a:p>
            <a:pPr lvl="0"/>
            <a:r>
              <a:rPr/>
              <a:t>고려인 광주진료소를 운영하여 의료 사각지대에 놓인 동포들에게 기초 진료 및 의료 상담 서비스 제공</a:t>
            </a:r>
          </a:p>
          <a:p>
            <a:pPr lvl="0"/>
            <a:r>
              <a:rPr/>
              <a:t>협동조합 형태의 어린이집과 청소년 문화센터를 통해 맞춤형 보육 및 학습 지원 프로그램 활성화,</a:t>
            </a:r>
          </a:p>
          <a:p>
            <a:pPr lvl="0"/>
            <a:r>
              <a:rPr/>
              <a:t>고려인 수난사와 독립운동사를 보존하는 역사전시관을 건립하여 민족적 정체성과 자긍심 고취,</a:t>
            </a:r>
          </a:p>
          <a:p>
            <a:pPr lvl="0" indent="0" marL="0">
              <a:buNone/>
            </a:pPr>
            <a:r>
              <a:rPr b="1"/>
              <a:t>[사례 요약: 마을 공동체의 힘]</a:t>
            </a:r>
            <a:r>
              <a:rPr/>
              <a:t> - </a:t>
            </a:r>
            <a:r>
              <a:rPr b="1"/>
              <a:t>내용:</a:t>
            </a:r>
            <a:r>
              <a:rPr/>
              <a:t> 광주 고려인마을은 지자체 지원뿐 아니라 주민들이 직접 출자한 협동조합을 통해 주택, 유통, 교육 문제를 해결함. - </a:t>
            </a:r>
            <a:r>
              <a:rPr b="1"/>
              <a:t>의의:</a:t>
            </a:r>
            <a:r>
              <a:rPr/>
              <a:t> 정착 지원의 수혜자를 넘어 지역 사회를 만들어가는 주체로서 고려인의 모습을 제시함.</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한국어 교육의 수요와 시간적 유연성</a:t>
            </a:r>
          </a:p>
        </p:txBody>
      </p:sp>
      <p:sp>
        <p:nvSpPr>
          <p:cNvPr id="3" name="Content Placeholder 2"/>
          <p:cNvSpPr>
            <a:spLocks noGrp="1"/>
          </p:cNvSpPr>
          <p:nvPr>
            <p:ph idx="1"/>
          </p:nvPr>
        </p:nvSpPr>
        <p:spPr/>
        <p:txBody>
          <a:bodyPr/>
          <a:lstStyle/>
          <a:p>
            <a:pPr lvl="0"/>
            <a:r>
              <a:rPr/>
              <a:t>설문 결과 한국 생활에서 가장 힘든 점으로 ’한국어(63%)’가 꼽히며 언어 교육의 시급성 확인</a:t>
            </a:r>
          </a:p>
          <a:p>
            <a:pPr lvl="0"/>
            <a:r>
              <a:rPr/>
              <a:t>한국어를 배우지 못한 주된 이유로 ’시간 부족(72%)’이 언급되어 평일 위주 프로그램의 한계 노출</a:t>
            </a:r>
          </a:p>
          <a:p>
            <a:pPr lvl="0"/>
            <a:r>
              <a:rPr/>
              <a:t>일요일(35%)과 평일 야간(28%) 등 생업 이후 시간을 활용한 교육 과정에 대한 요구가 가장 높음</a:t>
            </a:r>
          </a:p>
          <a:p>
            <a:pPr lvl="0"/>
            <a:r>
              <a:rPr/>
              <a:t>세대별 맞춤형 커리큘럼을 통해 기초 부족자부터 고급 비즈니스 회화까지 단계별 지원 체계 필요,</a:t>
            </a:r>
          </a:p>
          <a:p>
            <a:pPr lvl="0"/>
            <a:r>
              <a:rPr/>
              <a:t>러시아어 구사가 가능한 교사를 배치하여 초기 진입 장벽을 낮추고 정서적 친밀감 형성,</a:t>
            </a:r>
          </a:p>
          <a:p>
            <a:pPr lvl="0" indent="0" marL="0">
              <a:buNone/>
            </a:pPr>
            <a:r>
              <a:rPr b="1"/>
              <a:t>&lt;표 8&gt; 경기도 거주 고려인 동포의 지원 서비스 필요 우선순위 (1순위)</a:t>
            </a:r>
            <a:r>
              <a:rPr/>
              <a:t> | 순위 | 항목 | 비율(%) | | :—: | :— | :—: | | 1 | 한국어 교육 | 61.1% | | 2 | 비자 및 체류 관리 상담 | 9.4% | | 3 | 취업 및 일자리 정보 제공 | 5.9% | | 4 | 진료 및 의료 서비스 | 5.6%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상호 문화 교류와 지역 통합 전략</a:t>
            </a:r>
          </a:p>
        </p:txBody>
      </p:sp>
      <p:sp>
        <p:nvSpPr>
          <p:cNvPr id="3" name="Content Placeholder 2"/>
          <p:cNvSpPr>
            <a:spLocks noGrp="1"/>
          </p:cNvSpPr>
          <p:nvPr>
            <p:ph idx="1"/>
          </p:nvPr>
        </p:nvSpPr>
        <p:spPr/>
        <p:txBody>
          <a:bodyPr/>
          <a:lstStyle/>
          <a:p>
            <a:pPr lvl="0"/>
            <a:r>
              <a:rPr/>
              <a:t>선주민 대상의 인식 개선 교육을 통해 고려인을 ’역사를 공유하는 동포’로 수용하는 분위기 조성,</a:t>
            </a:r>
          </a:p>
          <a:p>
            <a:pPr lvl="0"/>
            <a:r>
              <a:rPr/>
              <a:t>선주민과 이주민이 함께 참여하는 마을 축제와 요리 교실 등을 통해 문화적 거리감 해소,</a:t>
            </a:r>
          </a:p>
          <a:p>
            <a:pPr lvl="0"/>
            <a:r>
              <a:rPr/>
              <a:t>고려인 밀집 학교에서 한국 학생이 러시아어를 배우는 ‘상호 언어 교환’ 프로그램을 통해 편견 타파</a:t>
            </a:r>
          </a:p>
          <a:p>
            <a:pPr lvl="0"/>
            <a:r>
              <a:rPr/>
              <a:t>역사 탐방 및 독립운동가 기념사업을 경기도민과 공동 진행하여 공동의 역사 의식 고취,</a:t>
            </a:r>
          </a:p>
          <a:p>
            <a:pPr lvl="0"/>
            <a:r>
              <a:rPr/>
              <a:t>단순한 ‘이방인’ 관리를 넘어 ’장기 정주 시민’으로서 사회권을 보장하는 포용적 정책 기조 유지,</a:t>
            </a:r>
          </a:p>
          <a:p>
            <a:pPr lvl="0" indent="0" marL="0">
              <a:buNone/>
            </a:pPr>
            <a:r>
              <a:rPr b="1"/>
              <a:t>[실무 예시: 상호 이해의 기회]</a:t>
            </a:r>
            <a:r>
              <a:rPr/>
              <a:t> - </a:t>
            </a:r>
            <a:r>
              <a:rPr b="1"/>
              <a:t>내용:</a:t>
            </a:r>
            <a:r>
              <a:rPr/>
              <a:t> 안산의 한 초등학교는 ’러시아 엄마들이 책 읽어주는 날’을 운영하여 부모들 간의 문화 차이를 이해함. - </a:t>
            </a:r>
            <a:r>
              <a:rPr b="1"/>
              <a:t>효과:</a:t>
            </a:r>
            <a:r>
              <a:rPr/>
              <a:t> 한국 아이들이 친구의 문화를 존중하게 되고, 이주 부모들은 자긍심을 느끼며 학교 공동체에 편입됨.</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향후 정책적 제언 및 실행 과제</a:t>
            </a:r>
          </a:p>
        </p:txBody>
      </p:sp>
      <p:sp>
        <p:nvSpPr>
          <p:cNvPr id="3" name="Content Placeholder 2"/>
          <p:cNvSpPr>
            <a:spLocks noGrp="1"/>
          </p:cNvSpPr>
          <p:nvPr>
            <p:ph idx="1"/>
          </p:nvPr>
        </p:nvSpPr>
        <p:spPr/>
        <p:txBody>
          <a:bodyPr/>
          <a:lstStyle/>
          <a:p>
            <a:pPr lvl="0"/>
            <a:r>
              <a:rPr/>
              <a:t>법적 지위 향상을 위해 재외동포법의 완전한 포용과 고려인동포법의 실효성 있는 개정 추진,</a:t>
            </a:r>
          </a:p>
          <a:p>
            <a:pPr lvl="0"/>
            <a:r>
              <a:rPr/>
              <a:t>장기 정착을 지원하는 ‘가족 정주형’ 보육 및 교육 서비스 인프라를 지자체별로 확충,</a:t>
            </a:r>
          </a:p>
          <a:p>
            <a:pPr lvl="0"/>
            <a:r>
              <a:rPr/>
              <a:t>임금 체불, 의료 사각지대 해결을 위한 원스톱 통합지원센터의 지역별 건립 및 운영,</a:t>
            </a:r>
          </a:p>
          <a:p>
            <a:pPr lvl="0"/>
            <a:r>
              <a:rPr/>
              <a:t>고령 동포 및 저소득 가구를 위한 건강보험료 지원 정책과 의료 바우처 제도 도입,</a:t>
            </a:r>
          </a:p>
          <a:p>
            <a:pPr lvl="0"/>
            <a:r>
              <a:rPr/>
              <a:t>고려인 전문가 인력을 공공 서비스의 상담원이나 강사로 적극 채용하여 일자리와 전문성 동시 확보,</a:t>
            </a:r>
          </a:p>
          <a:p>
            <a:pPr lvl="0" indent="0" marL="0">
              <a:buNone/>
            </a:pPr>
            <a:r>
              <a:rPr b="1"/>
              <a:t>&lt;표 9&gt; 고려인 동포 정착 지원을 위한 핵심 정책 방향</a:t>
            </a:r>
            <a:r>
              <a:rPr/>
              <a:t> | 정책 영역 | 세부 과제 | 기대 효과 | | :— | :— | :— | | 법 및 조례 | 고려인동포법 개정, 지자체 조례 통합 | 체류 안정성 및 사회권 확보 | | 경제 및 노동 | 임금 체불 예방, 직업 자격 인증 | 경제적 자립 기반 마련 | | 보육 및 교육 | 한국어 예비학교 확대, 보육료 지원 | 미래 세대의 성공적 안착 | | 보건 및 복지 | 건강보험료 경감, 정신건강 관리 | 삶의 질 향상 및 생존권 보장 |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결론: 한민족 동포와의 아름다운 동행</a:t>
            </a:r>
          </a:p>
        </p:txBody>
      </p:sp>
      <p:sp>
        <p:nvSpPr>
          <p:cNvPr id="3" name="Content Placeholder 2"/>
          <p:cNvSpPr>
            <a:spLocks noGrp="1"/>
          </p:cNvSpPr>
          <p:nvPr>
            <p:ph idx="1"/>
          </p:nvPr>
        </p:nvSpPr>
        <p:spPr/>
        <p:txBody>
          <a:bodyPr/>
          <a:lstStyle/>
          <a:p>
            <a:pPr lvl="0"/>
            <a:r>
              <a:rPr/>
              <a:t>고려인 동포는 고난의 역사를 극복하고 고국으로 돌아온 소중한 인적 자산이자 가족임,</a:t>
            </a:r>
          </a:p>
          <a:p>
            <a:pPr lvl="0"/>
            <a:r>
              <a:rPr/>
              <a:t>80년 유랑의 끝이 고국에서의 차별과 빈곤이 되지 않도록 우리 사회의 성숙한 포용력 요구,</a:t>
            </a:r>
          </a:p>
          <a:p>
            <a:pPr lvl="0"/>
            <a:r>
              <a:rPr/>
              <a:t>체계적인 실태 조사를 바탕으로 변화하는 동포들의 욕구에 유연하게 대응하는 행정 체계 완성,</a:t>
            </a:r>
          </a:p>
          <a:p>
            <a:pPr lvl="0"/>
            <a:r>
              <a:rPr/>
              <a:t>민간 단체의 헌신적 활동을 공공 부문이 적극 지원하여 지속 가능한 거버넌스 구축,</a:t>
            </a:r>
          </a:p>
          <a:p>
            <a:pPr lvl="0"/>
            <a:r>
              <a:rPr/>
              <a:t>함께 살아가는 공동체로서 고려인의 권리를 보장하는 것은 우리 사회의 정의를 실현하는 길임,</a:t>
            </a:r>
          </a:p>
          <a:p>
            <a:pPr lvl="0" indent="0" marL="0">
              <a:buNone/>
            </a:pPr>
            <a:r>
              <a:rPr/>
              <a:t>::: notes 고려인 동포 지원은 80년 전 나라가 힘이 없어 지켜주지 못했던 우리 선조들에 대한 뒤늦은 보답이기도 합니다. 이제는 이들이 ’언어의 섬’에 갇히지 않고 우리 이웃으로 당당히 살아갈 수 있도록 손을 내밀어야 합니다. 지자체와 시민 사회가 힘을 합쳐 만든 정착 지원의 결실이 대한민국을 더욱 풍요로운 다문화 사회로 이끌 것입니다,.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2025-12-24T06:34:10Z</dcterms:created>
  <dcterms:modified xsi:type="dcterms:W3CDTF">2025-12-24T06:34:10Z</dcterms:modified>
</cp:coreProperties>
</file>

<file path=docProps/custom.xml><?xml version="1.0" encoding="utf-8"?>
<Properties xmlns="http://schemas.openxmlformats.org/officeDocument/2006/custom-properties" xmlns:vt="http://schemas.openxmlformats.org/officeDocument/2006/docPropsVTypes"/>
</file>