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4" Type="http://schemas.openxmlformats.org/officeDocument/2006/relationships/viewProps" Target="viewProps.xml" /><Relationship Id="rId23" Type="http://schemas.openxmlformats.org/officeDocument/2006/relationships/presProps" Target="presProps.xml" /><Relationship Id="rId1" Type="http://schemas.openxmlformats.org/officeDocument/2006/relationships/slideMaster" Target="slideMasters/slideMaster1.xml" /><Relationship Id="rId26" Type="http://schemas.openxmlformats.org/officeDocument/2006/relationships/tableStyles" Target="tableStyles.xml" /><Relationship Id="rId2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경기도 및 서울 거주 고려인 동포 생활 실태와 정착 지원 방안</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1페이지: 연구 배경 및 고려인 동포의 정의</a:t>
            </a:r>
          </a:p>
        </p:txBody>
      </p:sp>
      <p:sp>
        <p:nvSpPr>
          <p:cNvPr id="3" name="Content Placeholder 2"/>
          <p:cNvSpPr>
            <a:spLocks noGrp="1"/>
          </p:cNvSpPr>
          <p:nvPr>
            <p:ph idx="1"/>
          </p:nvPr>
        </p:nvSpPr>
        <p:spPr/>
        <p:txBody>
          <a:bodyPr/>
          <a:lstStyle/>
          <a:p>
            <a:pPr lvl="0"/>
            <a:r>
              <a:rPr b="1"/>
              <a:t>역사적 배경과 고려인의 형성 과정:</a:t>
            </a:r>
            <a:r>
              <a:rPr/>
              <a:t> 1860년대 연해주 이주부터 1937년 중앙아시아 강제 이주를 거쳐 형성된 한민족 혈통의 동포 집단.</a:t>
            </a:r>
          </a:p>
          <a:p>
            <a:pPr lvl="0"/>
            <a:r>
              <a:rPr b="1"/>
              <a:t>법적 정의에 따른 고려인 범위:</a:t>
            </a:r>
            <a:r>
              <a:rPr/>
              <a:t> 1860년부터 1945년 8월 15일까지 러시아 및 구소련 지역으로 이주한 자 및 그 직계비속을 의미함.</a:t>
            </a:r>
          </a:p>
          <a:p>
            <a:pPr lvl="0"/>
            <a:r>
              <a:rPr b="1"/>
              <a:t>최근 국내 유입 및 이주 경로:</a:t>
            </a:r>
            <a:r>
              <a:rPr/>
              <a:t> 1990년대 소련 해체 이후 체제 변환기의 혼란과 경제적 어려움을 피해 고국인 한국으로 이주하는 추세임.</a:t>
            </a:r>
          </a:p>
          <a:p>
            <a:pPr lvl="0"/>
            <a:r>
              <a:rPr b="1"/>
              <a:t>방문취업제 도입과 유입 급증:</a:t>
            </a:r>
            <a:r>
              <a:rPr/>
              <a:t> 2007년 방문취업제(H-2) 도입 이후 단순 노무 인력을 중심으로 고려인 동포의 국내 유입이 본격화됨.</a:t>
            </a:r>
          </a:p>
          <a:p>
            <a:pPr lvl="0"/>
            <a:r>
              <a:rPr b="1"/>
              <a:t>연구의 필요성과 사회통합 목적:</a:t>
            </a:r>
            <a:r>
              <a:rPr/>
              <a:t> 전국 최다 거주지인 경기도를 중심으로 고려인의 정착 실태를 파악하여 정책적 지원 방안을 마련함.</a:t>
            </a:r>
          </a:p>
          <a:p>
            <a:pPr lvl="0" indent="0" marL="0">
              <a:buNone/>
            </a:pPr>
            <a:r>
              <a:rPr b="1"/>
              <a:t>상세 설명:</a:t>
            </a:r>
            <a:r>
              <a:rPr/>
              <a:t> 본 연구는 경기도와 서울에 거주하는 고려인 동포들의 생활 실태를 다각도로 분석하여 이들의 안정적인 국내 정착을 돕기 위해 수행되었습니다. 고려인은 과거 일제강점기 국외 이주와 강제 이주라는 아픈 역사를 가진 우리 동포들로, 최근 우즈베키스탄, 러시아, 카자흐스탄 등지에서 한국으로 향하는 사례가 급격히 늘고 있습니다. 특히 경기도는 전국에서 가장 많은 고려인이 밀집하여 거주하는 지역으로, 이들의 인구사회학적 특성과 주거, 교육, 경제 상태에 대한 정밀한 조사가 필수적입니다. 이들이 단순 외국인 노동자가 아닌 한민족 동포로서 사회의 일원으로 통합될 수 있도록 법적 지위 개선과 맞춤형 정책 개발이 요구되는 시점입니다.</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2페이지: 고려인 동포의 국내 체류 현황</a:t>
            </a:r>
          </a:p>
        </p:txBody>
      </p:sp>
      <p:sp>
        <p:nvSpPr>
          <p:cNvPr id="3" name="Content Placeholder 2"/>
          <p:cNvSpPr>
            <a:spLocks noGrp="1"/>
          </p:cNvSpPr>
          <p:nvPr>
            <p:ph idx="1"/>
          </p:nvPr>
        </p:nvSpPr>
        <p:spPr/>
        <p:txBody>
          <a:bodyPr/>
          <a:lstStyle/>
          <a:p>
            <a:pPr lvl="0"/>
            <a:r>
              <a:rPr b="1"/>
              <a:t>전국 및 지역별 거주 인원:</a:t>
            </a:r>
            <a:r>
              <a:rPr/>
              <a:t> 2019년 기준 국내 거소 신고된 고려인은 약 74,111명이며 경기도에 약 40%가 집중됨.</a:t>
            </a:r>
          </a:p>
          <a:p>
            <a:pPr lvl="0"/>
            <a:r>
              <a:rPr b="1"/>
              <a:t>경기도 내 시군별 밀집도:</a:t>
            </a:r>
            <a:r>
              <a:rPr/>
              <a:t> 안산시가 약 14,817명으로 가장 많으며 화성, 안성, 평택, 김포 순으로 높은 거주 비중을 보임.</a:t>
            </a:r>
          </a:p>
          <a:p>
            <a:pPr lvl="0"/>
            <a:r>
              <a:rPr b="1"/>
              <a:t>출신국별 인구 분포 통계:</a:t>
            </a:r>
            <a:r>
              <a:rPr/>
              <a:t> 우즈베키스탄 출신이 가장 높은 비중을 차지하며 러시아와 카자흐스탄 출신이 그 뒤를 잇는 구조임.</a:t>
            </a:r>
          </a:p>
          <a:p>
            <a:pPr lvl="0"/>
            <a:r>
              <a:rPr b="1"/>
              <a:t>연도별 유입 규모의 변화:</a:t>
            </a:r>
            <a:r>
              <a:rPr/>
              <a:t> 2012년 약 17,000명 수준에서 2019년 74,000명 이상으로 매년 가파른 증가세를 기록함.</a:t>
            </a:r>
          </a:p>
          <a:p>
            <a:pPr lvl="0"/>
            <a:r>
              <a:rPr b="1"/>
              <a:t>비자 유형별 체류 자격:</a:t>
            </a:r>
            <a:r>
              <a:rPr/>
              <a:t> 재외동포(F-4) 비자가 절반 이상을 차지하며 방문취업(H-2)과 영주(F-5) 비자 순으로 분포함.</a:t>
            </a:r>
          </a:p>
          <a:p>
            <a:pPr lvl="0" indent="0" marL="0">
              <a:buNone/>
            </a:pPr>
            <a:r>
              <a:rPr b="1"/>
              <a:t>&lt;표 1&gt; 연도별 고려인 국내 거소 신고 현황 (단위: 명, %)</a:t>
            </a:r>
            <a:r>
              <a:rPr/>
              <a:t> | 구분 | 2012년 | 2015년 | 2018년 | 2019년 6월 | | :— | :—: | :—: | :—: | :—: | | 고려인 수 | 17,652 | 32,270 | 70,451 | 74,111 | | 동포 내 비율 | 3.3% | 4.3% | 8.0% | 8.4% |</a:t>
            </a:r>
          </a:p>
          <a:p>
            <a:pPr lvl="0" indent="0" marL="0">
              <a:buNone/>
            </a:pPr>
            <a:r>
              <a:rPr b="1"/>
              <a:t>상세 설명:</a:t>
            </a:r>
            <a:r>
              <a:rPr/>
              <a:t> 국내 거주 고려인 동포는 외국국적동포 중 차지하는 비중은 중국 동포에 비해 작지만 매년 급증하는 추세에 있습니다. 특히 경기도는 고려인의 핵심 거점 지역으로, 안산시 단원구 등 특정 지역을 중심으로 대규모 집거지가 형성되어 있습니다. 출신 국가별로는 우즈베키스탄이 압도적으로 많으며, 이는 현지 경제 상황 악화와 민족 차별 정책에 따른 비자발적 이주 성격이 강함을 보여줍니다. 비자 유형 면에서는 과거 H-2 비자 중심에서 최근 자격 요건 완화에 따라 F-4 비자 소지자가 늘어나고 있으나 여전히 체류 안정성은 보완이 필요한 상태입니다.</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3페이지: 법적 근거 및 지자체 조례 분석</a:t>
            </a:r>
          </a:p>
        </p:txBody>
      </p:sp>
      <p:sp>
        <p:nvSpPr>
          <p:cNvPr id="3" name="Content Placeholder 2"/>
          <p:cNvSpPr>
            <a:spLocks noGrp="1"/>
          </p:cNvSpPr>
          <p:nvPr>
            <p:ph idx="1"/>
          </p:nvPr>
        </p:nvSpPr>
        <p:spPr/>
        <p:txBody>
          <a:bodyPr/>
          <a:lstStyle/>
          <a:p>
            <a:pPr lvl="0"/>
            <a:r>
              <a:rPr b="1"/>
              <a:t>중앙 정부의 특별법 체계:</a:t>
            </a:r>
            <a:r>
              <a:rPr/>
              <a:t> ’고려인동포법’을 통해 체류 자격 취득과 정착 지원을 위한 법적 근거를 마련하여 운영함.</a:t>
            </a:r>
          </a:p>
          <a:p>
            <a:pPr lvl="0"/>
            <a:r>
              <a:rPr b="1"/>
              <a:t>재외동포법 시행령의 개정:</a:t>
            </a:r>
            <a:r>
              <a:rPr/>
              <a:t> 최근 고려인 4세를 재외동포 범위에 포함하여 가족 단위의 안정적 체류가 가능하도록 개선함.</a:t>
            </a:r>
          </a:p>
          <a:p>
            <a:pPr lvl="0"/>
            <a:r>
              <a:rPr b="1"/>
              <a:t>경기도 고려인 주민 지원 조례:</a:t>
            </a:r>
            <a:r>
              <a:rPr/>
              <a:t> 2016년 제정되어 교육, 보건, 문화 행사 등 다양한 행정적 지원 방안을 명시하고 있음.</a:t>
            </a:r>
          </a:p>
          <a:p>
            <a:pPr lvl="0"/>
            <a:r>
              <a:rPr b="1"/>
              <a:t>광주광역시 및 안산시 사례:</a:t>
            </a:r>
            <a:r>
              <a:rPr/>
              <a:t> 지자체 중 최초로 전용 조례를 제정하고 종합지원센터를 설치하여 선도적인 모델을 제시함.</a:t>
            </a:r>
          </a:p>
          <a:p>
            <a:pPr lvl="0"/>
            <a:r>
              <a:rPr b="1"/>
              <a:t>조례상 지원 대상의 확대 필요성:</a:t>
            </a:r>
            <a:r>
              <a:rPr/>
              <a:t> 한국 국적을 취득한 귀화자와 그 직계비속까지 포괄할 수 있도록 제도 개선이 제안됨.</a:t>
            </a:r>
          </a:p>
          <a:p>
            <a:pPr lvl="0" indent="0" marL="0">
              <a:buNone/>
            </a:pPr>
            <a:r>
              <a:rPr b="1"/>
              <a:t>&lt;표 2&gt; 고려인 관련 주요 지원 조례 현황</a:t>
            </a:r>
            <a:r>
              <a:rPr/>
              <a:t> | 조례명 | 제정일 | 주요 내용 | | :— | :—: | :— | | 광주광역시 조례 | 2013년 | 거주지 안정, 교육 및 인권 옹호 | | 경기도 조례 | 2016년 | 한국어 교육 및 보건의료 지원 | | 안산시 조례 | 2018년 | 지원위원회 설치 및 민간 위탁 |</a:t>
            </a:r>
          </a:p>
          <a:p>
            <a:pPr lvl="0" indent="0" marL="0">
              <a:buNone/>
            </a:pPr>
            <a:r>
              <a:rPr b="1"/>
              <a:t>상세 설명:</a:t>
            </a:r>
            <a:r>
              <a:rPr/>
              <a:t> 고려인 동포 지원을 위한 법적 근거는 특별법과 지자체별 조례를 중심으로 구축되어 있습니다. 초기에는 3세까지만 동포로 인정하던 법령의 한계로 4세 자녀들이 성인이 되면 출국해야 하는 아픔이 있었으나, 최근 시행령 개정을 통해 이 문제가 일부 해소되었습니다. 경기도와 안산시 등은 조례를 통해 주거, 교육, 보건 서비스를 구체화하고 있으며, 특히 안산시는 민간단체인 ’너머’에 고려인 문화센터 운영을 위탁하여 현장 중심의 서비스를 제공하고 있습니다. 그러나 여전히 중앙 정부의 지원 정책이 해외 거주자동포에 편중되어 있어 국내 체류 동포에 대한 적극적인 보호가 요구됩니다.</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4페이지: 주거 환경 및 점유 형태 실태</a:t>
            </a:r>
          </a:p>
        </p:txBody>
      </p:sp>
      <p:sp>
        <p:nvSpPr>
          <p:cNvPr id="3" name="Content Placeholder 2"/>
          <p:cNvSpPr>
            <a:spLocks noGrp="1"/>
          </p:cNvSpPr>
          <p:nvPr>
            <p:ph idx="1"/>
          </p:nvPr>
        </p:nvSpPr>
        <p:spPr/>
        <p:txBody>
          <a:bodyPr/>
          <a:lstStyle/>
          <a:p>
            <a:pPr lvl="0"/>
            <a:r>
              <a:rPr b="1"/>
              <a:t>취약한 주거 안정성 수준:</a:t>
            </a:r>
            <a:r>
              <a:rPr/>
              <a:t> 응답자의 92.5%가 월세(보증금 유무 포함)에 거주하며 자가 소유 비율은 1.3%에 불과함.</a:t>
            </a:r>
          </a:p>
          <a:p>
            <a:pPr lvl="0"/>
            <a:r>
              <a:rPr b="1"/>
              <a:t>보증금 및 월세 지불 부담:</a:t>
            </a:r>
            <a:r>
              <a:rPr/>
              <a:t> 평균 보증금은 431만 원으로 경기도 평균보다 낮으나 월세는 43만 원으로 10만 원가량 높음.</a:t>
            </a:r>
          </a:p>
          <a:p>
            <a:pPr lvl="0"/>
            <a:r>
              <a:rPr b="1"/>
              <a:t>주거지 결정의 주요 요인:</a:t>
            </a:r>
            <a:r>
              <a:rPr/>
              <a:t> 직장이나 학교가 가까운 곳(49.7%)과 부모나 친척이 거주하는 곳(29.4%)을 우선적으로 선택함.</a:t>
            </a:r>
          </a:p>
          <a:p>
            <a:pPr lvl="0"/>
            <a:r>
              <a:rPr b="1"/>
              <a:t>물리적 환경에 대한 만족도:</a:t>
            </a:r>
            <a:r>
              <a:rPr/>
              <a:t> 동네의 안전성에 대해서는 3.9점(5점 만점)으로 높은 만족도를 보이나 공공시설은 보통 수준임.</a:t>
            </a:r>
          </a:p>
          <a:p>
            <a:pPr lvl="0"/>
            <a:r>
              <a:rPr b="1"/>
              <a:t>거주 기간에 따른 주거 변화:</a:t>
            </a:r>
            <a:r>
              <a:rPr/>
              <a:t> 한국 거주 기간이 5년 이상인 경우 보증금 규모가 증가하며 점차 안정적인 형태로 전이됨.</a:t>
            </a:r>
          </a:p>
          <a:p>
            <a:pPr lvl="0" indent="0" marL="0">
              <a:buNone/>
            </a:pPr>
            <a:r>
              <a:rPr b="1"/>
              <a:t>&lt;표 3&gt; 경기도 거주 고려인과 일반 주민 주거 비용 비교</a:t>
            </a:r>
            <a:r>
              <a:rPr/>
              <a:t> | 항목 | 고려인 동포 | 경기도 평균 | 전국 평균 | | :— | :—: | :—: | :—: | | 평균 보증금 | 431만 원 | 2,918만 원 | 2,103만 원 | | 평균 월세 | 43만 원 | 33만 원 | 30만 원 |</a:t>
            </a:r>
          </a:p>
          <a:p>
            <a:pPr lvl="0" indent="0" marL="0">
              <a:buNone/>
            </a:pPr>
            <a:r>
              <a:rPr b="1"/>
              <a:t>상세 설명:</a:t>
            </a:r>
            <a:r>
              <a:rPr/>
              <a:t> 경기도 거주 고려인 동포의 주거 환경은 매우 취약한 상태로, 대부분이 보증금 있는 월세 형태에 머물러 있습니다. 이는 일반 이민자 집단과 비교해도 월등히 높은 월세 거주 비율로, 낮은 자본력을 바탕으로 열악한 주거지에 집중되고 있음을 의미합니다. 특히 보증금은 낮고 월세는 높은 ‘고비용 저효율’ 구조의 주거 형태를 띠고 있어 경제적 자립에 걸림돌이 됩니다. 주거지 선택 시에도 경제적 요인보다는 가족 네트워크와 일자리 접근성을 우선시하여 특정 지역에 게토화(Ghettoization)되는 경향을 보입니다.</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5페이지: 자녀 양육 및 교육의 어려움</a:t>
            </a:r>
          </a:p>
        </p:txBody>
      </p:sp>
      <p:sp>
        <p:nvSpPr>
          <p:cNvPr id="3" name="Content Placeholder 2"/>
          <p:cNvSpPr>
            <a:spLocks noGrp="1"/>
          </p:cNvSpPr>
          <p:nvPr>
            <p:ph idx="1"/>
          </p:nvPr>
        </p:nvSpPr>
        <p:spPr/>
        <p:txBody>
          <a:bodyPr/>
          <a:lstStyle/>
          <a:p>
            <a:pPr lvl="0"/>
            <a:r>
              <a:rPr b="1"/>
              <a:t>자녀 동반 입국 및 가족 구조:</a:t>
            </a:r>
            <a:r>
              <a:rPr/>
              <a:t> 자녀가 있는 가구가 72.5%이며 자녀 중 절반 이상이 부모와 함께 한국에 거주 중임.</a:t>
            </a:r>
          </a:p>
          <a:p>
            <a:pPr lvl="0"/>
            <a:r>
              <a:rPr b="1"/>
              <a:t>양육 시 가장 큰 장애 요인:</a:t>
            </a:r>
            <a:r>
              <a:rPr/>
              <a:t> 경제적 부담(37.9%)이 1순위이며 언어 장벽으로 인한 대화 단절(10.2%)이 주요 고충임.</a:t>
            </a:r>
          </a:p>
          <a:p>
            <a:pPr lvl="0"/>
            <a:r>
              <a:rPr b="1"/>
              <a:t>가정 내 언어 사용 현황:</a:t>
            </a:r>
            <a:r>
              <a:rPr/>
              <a:t> 자녀와의 대화 시 92.5%가 주로 러시아어를 사용하여 한국어 습득 기회가 매우 부족함.</a:t>
            </a:r>
          </a:p>
          <a:p>
            <a:pPr lvl="0"/>
            <a:r>
              <a:rPr b="1"/>
              <a:t>교육 프로그램에 대한 수요:</a:t>
            </a:r>
            <a:r>
              <a:rPr/>
              <a:t> 고려인 자녀를 위해 가장 시급한 서비스로 한국어 교육(79.9%)이 압도적으로 선택됨.</a:t>
            </a:r>
          </a:p>
          <a:p>
            <a:pPr lvl="0"/>
            <a:r>
              <a:rPr b="1"/>
              <a:t>중도 입국 자녀의 학교 부적응:</a:t>
            </a:r>
            <a:r>
              <a:rPr/>
              <a:t> 한국어 미숙과 문화적 차이로 인해 한국 학교 입학 시 환영받지 못하거나 따돌림을 경험함.</a:t>
            </a:r>
          </a:p>
          <a:p>
            <a:pPr lvl="0" indent="0" marL="0">
              <a:buNone/>
            </a:pPr>
            <a:r>
              <a:rPr b="1"/>
              <a:t>&lt;표 4&gt; 자녀 양육 시 겪는 주요 어려움 (중복 응답)</a:t>
            </a:r>
            <a:r>
              <a:rPr/>
              <a:t> | 순위 | 항목 | 비율(%) | | :—: | :— | :—: | | 1 | 경제적 부담 | 37.9% | | 2 | 대화 단절 | 10.2% | | 3 | 학업 성적 및 진로 | 5.7% | | 4 | 게임 중독 | 3.1% |</a:t>
            </a:r>
          </a:p>
          <a:p>
            <a:pPr lvl="0" indent="0" marL="0">
              <a:buNone/>
            </a:pPr>
            <a:r>
              <a:rPr b="1"/>
              <a:t>상세 설명:</a:t>
            </a:r>
            <a:r>
              <a:rPr/>
              <a:t> 고려인 동포들의 국내 체류가 장기화되면서 가족 단위 정주가 늘어나고 있으며, 이에 따른 자녀 교육 문제가 사회적 화두로 떠오르고 있습니다. 대다수 부모가 장시간 노동에 종사하며 한국어 교육을 직접 수행하기 어렵고, 가정 내에서도 러시아어 위주로 생활하여 자녀들의 한국어 능력이 향상되지 못하고 있습니다. 이로 인해 학교 현장에서는 중도 입국 학생들의 부적응과 학습 지체 현상이 나타나며, 이는 곧 진학 포기나 단순 노무직 대물림으로 이어질 위험이 큽니다. 보육료 지원 등 경제적 혜택뿐 아니라 언어와 문화를 동시에 아우르는 교육 지원이 절실합니다.</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6페이지: 경제 활동 실태 및 소득 수준</a:t>
            </a:r>
          </a:p>
        </p:txBody>
      </p:sp>
      <p:sp>
        <p:nvSpPr>
          <p:cNvPr id="3" name="Content Placeholder 2"/>
          <p:cNvSpPr>
            <a:spLocks noGrp="1"/>
          </p:cNvSpPr>
          <p:nvPr>
            <p:ph idx="1"/>
          </p:nvPr>
        </p:nvSpPr>
        <p:spPr/>
        <p:txBody>
          <a:bodyPr/>
          <a:lstStyle/>
          <a:p>
            <a:pPr lvl="0"/>
            <a:r>
              <a:rPr b="1"/>
              <a:t>직업 분포와 노동 환경:</a:t>
            </a:r>
            <a:r>
              <a:rPr/>
              <a:t> 응답자의 57.6%가 공장, 건설 등 단순 노무직에 종사하며 미숙련 노동자로 분류됨.</a:t>
            </a:r>
          </a:p>
          <a:p>
            <a:pPr lvl="0"/>
            <a:r>
              <a:rPr b="1"/>
              <a:t>가구당 평균 소득 및 지출:</a:t>
            </a:r>
            <a:r>
              <a:rPr/>
              <a:t> 한 달 평균 가구 소득은 약 316만 원이며 식비와 주거비가 지출의 대부분을 차지함.</a:t>
            </a:r>
          </a:p>
          <a:p>
            <a:pPr lvl="0"/>
            <a:r>
              <a:rPr b="1"/>
              <a:t>생활고 및 빈곤 경험 비율:</a:t>
            </a:r>
            <a:r>
              <a:rPr/>
              <a:t> 지난 1년 동안 돈이 없어 병원(28.9%)이나 치과(36.5%)에 가지 못한 경험이 매우 높음.</a:t>
            </a:r>
          </a:p>
          <a:p>
            <a:pPr lvl="0"/>
            <a:r>
              <a:rPr b="1"/>
              <a:t>공과금 및 집세 체납 현황:</a:t>
            </a:r>
            <a:r>
              <a:rPr/>
              <a:t> 응답자 4명 중 1명은 경제적 형편 때문에 전기, 수도 등 공과금을 밀린 경험이 있음.</a:t>
            </a:r>
          </a:p>
          <a:p>
            <a:pPr lvl="0"/>
            <a:r>
              <a:rPr b="1"/>
              <a:t>일용직 중심의 고용 형태:</a:t>
            </a:r>
            <a:r>
              <a:rPr/>
              <a:t> 고용 허가제가 아닌 방문취업 비자 등으로 인해 고용이 불안정하고 직장 보험 가입률이 낮음.</a:t>
            </a:r>
          </a:p>
          <a:p>
            <a:pPr lvl="0" indent="0" marL="0">
              <a:buNone/>
            </a:pPr>
            <a:r>
              <a:rPr b="1"/>
              <a:t>&lt;표 5&gt; 가구 소득 구간별 분포 현황</a:t>
            </a:r>
            <a:r>
              <a:rPr/>
              <a:t> | 소득 구간 | 비율(%) | 특이 사항 | | :— | :—: | :— | | 200만 원 미만 | 13.5% | 극빈층 비율 | | 200~400만 원 미만 | 55.7% | 다수 근로 계층 | | 400~500만 원 미만 | 18.3% | 맞벌이 가구 등 | | 500만 원 이상 | 12.6% | 안정적 정착층 |</a:t>
            </a:r>
          </a:p>
          <a:p>
            <a:pPr lvl="0" indent="0" marL="0">
              <a:buNone/>
            </a:pPr>
            <a:r>
              <a:rPr b="1"/>
              <a:t>상세 설명:</a:t>
            </a:r>
            <a:r>
              <a:rPr/>
              <a:t> 고려인 동포들은 주로 한국인이 기피하는 제조업이나 건설 현장 등에서 저임금을 받으며 생활하고 있습니다. 가구 전체 소득은 적지 않아 보이지만 높은 물가와 주거비 부담으로 인해 실질적인 가계 여력은 부족한 상태입니다. 특히 경제적 어려움으로 인해 필수 의료 서비스를 포기하는 비율이 한국인 대비 수십 배 높게 나타나는데, 이는 이들의 생존권과 직결된 심각한 문제입니다. 단순 수입의 크기보다 고용의 질적 개선과 사회 안전망 편입을 위한 정책적 개입이 시급한 이유입니다.</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7페이지: 건강 상태 및 의료 접근성</a:t>
            </a:r>
          </a:p>
        </p:txBody>
      </p:sp>
      <p:sp>
        <p:nvSpPr>
          <p:cNvPr id="3" name="Content Placeholder 2"/>
          <p:cNvSpPr>
            <a:spLocks noGrp="1"/>
          </p:cNvSpPr>
          <p:nvPr>
            <p:ph idx="1"/>
          </p:nvPr>
        </p:nvSpPr>
        <p:spPr/>
        <p:txBody>
          <a:bodyPr/>
          <a:lstStyle/>
          <a:p>
            <a:pPr lvl="0"/>
            <a:r>
              <a:rPr b="1"/>
              <a:t>주관적 건강 인식 수준:</a:t>
            </a:r>
            <a:r>
              <a:rPr/>
              <a:t> 스스로를 건강하다고 인식하는 비율은 38.8%이며 연령이 높을수록 인식이 부정적임.</a:t>
            </a:r>
          </a:p>
          <a:p>
            <a:pPr lvl="0"/>
            <a:r>
              <a:rPr b="1"/>
              <a:t>건강보험 가입 및 보장 형태:</a:t>
            </a:r>
            <a:r>
              <a:rPr/>
              <a:t> 지역가입자가 58.4%로 가장 많고 보험이 아예 없는 사각지대 인구도 10.7%에 달함.</a:t>
            </a:r>
          </a:p>
          <a:p>
            <a:pPr lvl="0"/>
            <a:r>
              <a:rPr b="1"/>
              <a:t>의료 기관 이용 시 주요 장애:</a:t>
            </a:r>
            <a:r>
              <a:rPr/>
              <a:t> 병원 내 의사소통의 어려움(21%)과 비싼 병원비(16.1%)가 적기 치료를 막는 원인임.</a:t>
            </a:r>
          </a:p>
          <a:p>
            <a:pPr lvl="0"/>
            <a:r>
              <a:rPr b="1"/>
              <a:t>건강보험법 개정의 파급 효과:</a:t>
            </a:r>
            <a:r>
              <a:rPr/>
              <a:t> 외국인 지역가입 당연 가입제로 인해 소득이 없는 고령자나 학생까지 과도한 보험료를 부담함.</a:t>
            </a:r>
          </a:p>
          <a:p>
            <a:pPr lvl="0"/>
            <a:r>
              <a:rPr b="1"/>
              <a:t>정신건강 및 PTSD 유발 요인:</a:t>
            </a:r>
            <a:r>
              <a:rPr/>
              <a:t> 탈북 과정이나 이주 전 겪은 강제 이주 트라우마 등으로 인해 심리적 불안과 우울감을 겪음.</a:t>
            </a:r>
          </a:p>
          <a:p>
            <a:pPr lvl="0" indent="0" marL="0">
              <a:buNone/>
            </a:pPr>
            <a:r>
              <a:rPr b="1"/>
              <a:t>&lt;표 6&gt; 의료 기관 이용 시 제때 치료받지 못한 이유</a:t>
            </a:r>
            <a:r>
              <a:rPr/>
              <a:t> | 순위 | 이유 | 비율(%) | | :—: | :— | :—: | | 1 | 의사소통이 어려워서 | 21.0% | | 2 | 운영 시간을 못 맞춰서 | 19.4% | | 3 | 병원비가 너무 비싸서 | 16.1% | | 4 | 건강보험 자격 상실 등 | 6.5% |</a:t>
            </a:r>
          </a:p>
          <a:p>
            <a:pPr lvl="0" indent="0" marL="0">
              <a:buNone/>
            </a:pPr>
            <a:r>
              <a:rPr b="1"/>
              <a:t>상세 설명:</a:t>
            </a:r>
            <a:r>
              <a:rPr/>
              <a:t> 고려인 동포의 건강권은 경제적 빈곤과 제도적 장벽에 의해 심각하게 위협받고 있습니다. 특히 최근 변경된 건강보험 제도는 가족 단위 보장이 아닌 개인별 부과 방식을 취해 저소득 고려인 가구에 막대한 경제적 타격을 주고 있습니다. 아파도 병원에 가지 못하고 약국이나 자가 치료에 의존하는 비율이 높은데, 이는 결국 병을 키워 더 큰 사회적 비용을 발생시키게 됩니다. 병원 내 러시아어 통번역 서비스 배치와 건강보험료 지원 바우처 도입 등 실질적인 의료 접근성 제고 방안이 필요합니다.</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8페이지: 지역 주민과의 관계 및 사회적 지지</a:t>
            </a:r>
          </a:p>
        </p:txBody>
      </p:sp>
      <p:sp>
        <p:nvSpPr>
          <p:cNvPr id="3" name="Content Placeholder 2"/>
          <p:cNvSpPr>
            <a:spLocks noGrp="1"/>
          </p:cNvSpPr>
          <p:nvPr>
            <p:ph idx="1"/>
          </p:nvPr>
        </p:nvSpPr>
        <p:spPr/>
        <p:txBody>
          <a:bodyPr/>
          <a:lstStyle/>
          <a:p>
            <a:pPr lvl="0"/>
            <a:r>
              <a:rPr b="1"/>
              <a:t>한국어 능력의 객관적 수준:</a:t>
            </a:r>
            <a:r>
              <a:rPr/>
              <a:t> 말하기, 듣기, 읽기, 쓰기 전 영역에서 ’못하는 편’이라는 응답이 60~70%를 상회함.</a:t>
            </a:r>
          </a:p>
          <a:p>
            <a:pPr lvl="0"/>
            <a:r>
              <a:rPr b="1"/>
              <a:t>사회적 관계망의 형성 정도:</a:t>
            </a:r>
            <a:r>
              <a:rPr/>
              <a:t> 한국인 친구가 있는 비율은 12.6%에 불과하며 주로 같은 고려인 이웃과만 교류함.</a:t>
            </a:r>
          </a:p>
          <a:p>
            <a:pPr lvl="0"/>
            <a:r>
              <a:rPr b="1"/>
              <a:t>지역 사회 내 갈등 경험:</a:t>
            </a:r>
            <a:r>
              <a:rPr/>
              <a:t> 언어 차이로 인한 오해(41.7%)와 생활 습관 차이, 쓰레기 분리배출 문제 등으로 갈등을 겪음.</a:t>
            </a:r>
          </a:p>
          <a:p>
            <a:pPr lvl="0"/>
            <a:r>
              <a:rPr b="1"/>
              <a:t>차별 대우 및 편견 인식:</a:t>
            </a:r>
            <a:r>
              <a:rPr/>
              <a:t> 응답자의 29.4%가 차별을 경험했으며 주로 취업 현장(33.3%)과 직장 내(28.1%)에서 빈번함.</a:t>
            </a:r>
          </a:p>
          <a:p>
            <a:pPr lvl="0"/>
            <a:r>
              <a:rPr b="1"/>
              <a:t>지역 주민의 긍정적 인식 변화:</a:t>
            </a:r>
            <a:r>
              <a:rPr/>
              <a:t> 초기 갈등을 넘어서면 ‘순하고 성실한 세입자’ 또는 ’지역 경제 활성화의 주축’으로 인정받기도 함.</a:t>
            </a:r>
          </a:p>
          <a:p>
            <a:pPr lvl="0" indent="0" marL="0">
              <a:buNone/>
            </a:pPr>
            <a:r>
              <a:rPr b="1"/>
              <a:t>&lt;표 7&gt; 거주지 한국인과의 주요 갈등 영역</a:t>
            </a:r>
            <a:r>
              <a:rPr/>
              <a:t> | 갈등 항목 | 갈등 있음(%) | 평균 점수(5점) | | :— | :—: | :—: | | 언어 및 의사소통 문제 | 41.7% | 1.8 | | 편견과 차별 문제 | 36.7% | 1.7 | | 주거 관련(임대) 문제 | 30.4% | 1.5 | | 문화 및 생활 습관 차이 | 29.0% | 1.5 |</a:t>
            </a:r>
          </a:p>
          <a:p>
            <a:pPr lvl="0" indent="0" marL="0">
              <a:buNone/>
            </a:pPr>
            <a:r>
              <a:rPr b="1"/>
              <a:t>상세 설명:</a:t>
            </a:r>
            <a:r>
              <a:rPr/>
              <a:t> 고려인 동포들은 한국인 주민과 물리적으로 가까운 곳에 거주하지만, 심리적·사회적 거리는 여전히 멀게 느껴집니다. 한국어 능력이 부족하여 한국인 선주민과 깊이 있는 관계를 맺지 못하고 고려인 커뮤니티 내에 고립되는 ’섬’과 같은 생활을 하고 있습니다. 하지만 안산시 선부동 사례처럼 지역 행사나 공동체 사업에 함께 참여하면서 서로의 문화를 이해하고 러시아어를 배우는 선주민이 늘어나는 등 상호 문화 교류의 가능성도 확인되었습니다. 차별을 해소하기 위해서는 일방적인 동화 교육이 아닌, 지역 주민 전체를 대상으로 한 다문화 다양성 교육이 확대되어야 합니다.</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9페이지: 정착 지원 서비스 이용 및 요구 사항</a:t>
            </a:r>
          </a:p>
        </p:txBody>
      </p:sp>
      <p:sp>
        <p:nvSpPr>
          <p:cNvPr id="3" name="Content Placeholder 2"/>
          <p:cNvSpPr>
            <a:spLocks noGrp="1"/>
          </p:cNvSpPr>
          <p:nvPr>
            <p:ph idx="1"/>
          </p:nvPr>
        </p:nvSpPr>
        <p:spPr/>
        <p:txBody>
          <a:bodyPr/>
          <a:lstStyle/>
          <a:p>
            <a:pPr lvl="0"/>
            <a:r>
              <a:rPr b="1"/>
              <a:t>현재 이용 중인 주요 서비스:</a:t>
            </a:r>
            <a:r>
              <a:rPr/>
              <a:t> 한국어 교육(68.0%)이 가장 많으며 통번역 서비스와 진료 지원 순으로 이용도가 높음.</a:t>
            </a:r>
          </a:p>
          <a:p>
            <a:pPr lvl="0"/>
            <a:r>
              <a:rPr b="1"/>
              <a:t>지원 기관 인지도 부족 현황:</a:t>
            </a:r>
            <a:r>
              <a:rPr/>
              <a:t> 공식 지원 센터나 지방자치단체의 도움을 받는 비율은 매우 낮으며 지인 추천에 의존함.</a:t>
            </a:r>
          </a:p>
          <a:p>
            <a:pPr lvl="0"/>
            <a:r>
              <a:rPr b="1"/>
              <a:t>신규 정책 발굴 최우선 순위:</a:t>
            </a:r>
            <a:r>
              <a:rPr/>
              <a:t> 한국어 교육(61.1%)이 압도적이며 비자 상담 및 취업 정보 제공에 대한 욕구가 강함.</a:t>
            </a:r>
          </a:p>
          <a:p>
            <a:pPr lvl="0"/>
            <a:r>
              <a:rPr b="1"/>
              <a:t>공공 시설 이용의 불편함:</a:t>
            </a:r>
            <a:r>
              <a:rPr/>
              <a:t> 의사소통 문제와 제한된 이용 시간, 시설과의 물리적 거리 등이 주요 불편 사항임.</a:t>
            </a:r>
          </a:p>
          <a:p>
            <a:pPr lvl="0"/>
            <a:r>
              <a:rPr b="1"/>
              <a:t>원스톱 통합 센터의 필요성:</a:t>
            </a:r>
            <a:r>
              <a:rPr/>
              <a:t> 노무, 의료, 체류 상담을 한 곳에서 처리할 수 있는 전문 센터 건립을 희망함.</a:t>
            </a:r>
          </a:p>
          <a:p>
            <a:pPr lvl="0" indent="0" marL="0">
              <a:buNone/>
            </a:pPr>
            <a:r>
              <a:rPr b="1"/>
              <a:t>&lt;표 8&gt; 경기도 거주 중 가장 필요하다고 느끼는 서비스 (1순위)</a:t>
            </a:r>
            <a:r>
              <a:rPr/>
              <a:t> | 순위 | 항목 | 비율(%) | | :—: | :— | :—: | | 1 | 한국어 교육 | 61.1% | | 2 | 비자 및 체류 관리 상담 | 9.4% | | 3 | 취업 및 일자리 정보 | 5.9% | | 4 | 진료 및 의료 서비스 | 5.6% |</a:t>
            </a:r>
          </a:p>
          <a:p>
            <a:pPr lvl="0" indent="0" marL="0">
              <a:buNone/>
            </a:pPr>
            <a:r>
              <a:rPr b="1"/>
              <a:t>상세 설명:</a:t>
            </a:r>
            <a:r>
              <a:rPr/>
              <a:t> 고려인 동포들은 정착 과정에서 필요한 정보와 서비스를 주로 비공식적인 경로를 통해 얻고 있습니다. 현재 제공되는 한국어 교육 프로그램은 평일 낮 시간 위주여서 생업에 바쁜 이들에게는 그림의 떡인 경우가 많습니다. 따라서 이들의 생활 패턴에 맞춘 주말반이나 야간반 등 유연한 교육 시간 설계가 필요합니다. 또한 단순히 센터를 짓는 것에 그치지 않고, 고려인 핵심 요원들을 상담원으로 채용하여 정서적 공감대와 소통의 효율성을 높이는 전략이 효과적일 것입니다.</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10페이지: 해외 국가의 동포 정착 사례 비교 (독일·일본)</a:t>
            </a:r>
          </a:p>
        </p:txBody>
      </p:sp>
      <p:sp>
        <p:nvSpPr>
          <p:cNvPr id="3" name="Content Placeholder 2"/>
          <p:cNvSpPr>
            <a:spLocks noGrp="1"/>
          </p:cNvSpPr>
          <p:nvPr>
            <p:ph idx="1"/>
          </p:nvPr>
        </p:nvSpPr>
        <p:spPr/>
        <p:txBody>
          <a:bodyPr/>
          <a:lstStyle/>
          <a:p>
            <a:pPr lvl="0"/>
            <a:r>
              <a:rPr b="1"/>
              <a:t>독일의 후기재이주자 정책:</a:t>
            </a:r>
            <a:r>
              <a:rPr/>
              <a:t> 구소련 지역 동포를 ’재이주자’로 인정하고 역사적 책임 의식 하에 주거와 시민권을 보장함.</a:t>
            </a:r>
          </a:p>
          <a:p>
            <a:pPr lvl="0"/>
            <a:r>
              <a:rPr b="1"/>
              <a:t>독일의 직업 자격 인정 제도:</a:t>
            </a:r>
            <a:r>
              <a:rPr/>
              <a:t> 해외에서 취득한 자격을 독일 내에서 검증하여 전문 인력으로 활용할 수 있도록 법제화함.</a:t>
            </a:r>
          </a:p>
          <a:p>
            <a:pPr lvl="0"/>
            <a:r>
              <a:rPr b="1"/>
              <a:t>일본의 재일 일계인 지원 체계:</a:t>
            </a:r>
            <a:r>
              <a:rPr/>
              <a:t> 지방 정부 중심으로 일본어 교육과 아동 교육 지원을 강화하여 ’다문화 공생’을 실천함.</a:t>
            </a:r>
          </a:p>
          <a:p>
            <a:pPr lvl="0"/>
            <a:r>
              <a:rPr b="1"/>
              <a:t>일본 하마마쓰 모델의 성과:</a:t>
            </a:r>
            <a:r>
              <a:rPr/>
              <a:t> ’취학하지 않은 외국인 아동 제로 작전’을 통해 아동 교육 사각지대를 완전히 해소함.</a:t>
            </a:r>
          </a:p>
          <a:p>
            <a:pPr lvl="0"/>
            <a:r>
              <a:rPr b="1"/>
              <a:t>국제 사례가 주는 시사점:</a:t>
            </a:r>
            <a:r>
              <a:rPr/>
              <a:t> 단기적인 시혜적 지원이 아닌, 동등한 국민으로서의 권리와 의무를 부여하는 정주형 정책이 핵심임.</a:t>
            </a:r>
          </a:p>
          <a:p>
            <a:pPr lvl="0" indent="0" marL="0">
              <a:buNone/>
            </a:pPr>
            <a:r>
              <a:rPr b="1"/>
              <a:t>&lt;표 9&gt; 독일과 일본의 동포 지원 정책 특성 비교</a:t>
            </a:r>
            <a:r>
              <a:rPr/>
              <a:t> | 국가 | 주요 방향 | 핵심 제도 | | :— | :— | :— | | 독일 | 역사적 책임 중심 | 시민권 부여, 자격 인증법 | | 일본 | 지역 공생 중심 | 아동 취학 지원, 다언어 정보 제공 | | 한국 | 초기 정착 위주 | 비자 요건 완화, 기초 생활 지원 |</a:t>
            </a:r>
          </a:p>
          <a:p>
            <a:pPr lvl="0" indent="0" marL="0">
              <a:buNone/>
            </a:pPr>
            <a:r>
              <a:rPr b="1"/>
              <a:t>상세 설명:</a:t>
            </a:r>
            <a:r>
              <a:rPr/>
              <a:t> 독일과 일본은 우리보다 앞서 해외 동포의 귀환과 정착 문제를 경험한 국가들입니다. 독일은 과거 전쟁의 아픔을 공유하는 동포들에게 역사적 부채 의식을 가지고 과감한 시민권 부여와 주택 보조금을 지원합니다. 일본은 제조업 일손 부족 해결을 위해 입국한 일계인들을 위해 지역 밀착형 행정 서비스를 정교하게 구축했습니다. 이러한 사례들은 고려인을 단순한 ’외국인 인력’으로 볼 것이 아니라, 인구 절벽 시대에 소중한 ’동포 인적 자산’으로 인식하고 장기적인 투자 관점에서 정책을 수립해야 함을 시사합니다.</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11페이지: 상담 매뉴얼 기반 노무 및 법률 지원</a:t>
            </a:r>
          </a:p>
        </p:txBody>
      </p:sp>
      <p:sp>
        <p:nvSpPr>
          <p:cNvPr id="3" name="Content Placeholder 2"/>
          <p:cNvSpPr>
            <a:spLocks noGrp="1"/>
          </p:cNvSpPr>
          <p:nvPr>
            <p:ph idx="1"/>
          </p:nvPr>
        </p:nvSpPr>
        <p:spPr/>
        <p:txBody>
          <a:bodyPr/>
          <a:lstStyle/>
          <a:p>
            <a:pPr lvl="0"/>
            <a:r>
              <a:rPr b="1"/>
              <a:t>근로기준법의 상시 적용 원칙:</a:t>
            </a:r>
            <a:r>
              <a:rPr/>
              <a:t> 5인 이상 사업장의 경우 연장·야간·휴일 수당과 퇴직금 규정이 강제 적용됨.</a:t>
            </a:r>
          </a:p>
          <a:p>
            <a:pPr lvl="0"/>
            <a:r>
              <a:rPr b="1"/>
              <a:t>임금 체불 시 대응 절차:</a:t>
            </a:r>
            <a:r>
              <a:rPr/>
              <a:t> 고용노동청 진정을 통해 체불 확정 후 보증보험 및 소액체당금을 청구하여 권리를 구제함.</a:t>
            </a:r>
          </a:p>
          <a:p>
            <a:pPr lvl="0"/>
            <a:r>
              <a:rPr b="1"/>
              <a:t>퇴직금 산정 및 수령 주의사항:</a:t>
            </a:r>
            <a:r>
              <a:rPr/>
              <a:t> 1년 이상 근무 시 30일분 이상의 평균임금을 지급해야 하며 출국만기보험 차액을 확인해야 함.</a:t>
            </a:r>
          </a:p>
          <a:p>
            <a:pPr lvl="0"/>
            <a:r>
              <a:rPr b="1"/>
              <a:t>산업재해 발생 시 보상 청구:</a:t>
            </a:r>
            <a:r>
              <a:rPr/>
              <a:t> 미등록 체류자나 5인 미만 농가 근로자도 업무상 재해 시 요양 및 휴업 급여 청구가 가능함.</a:t>
            </a:r>
          </a:p>
          <a:p>
            <a:pPr lvl="0"/>
            <a:r>
              <a:rPr b="1"/>
              <a:t>직장 내 괴롭힘 및 성희롱 방지:</a:t>
            </a:r>
            <a:r>
              <a:rPr/>
              <a:t> 사용자의 폭언이나 부당한 처우가 입증될 경우 사업장 직권 변경 사유로 인정됨.</a:t>
            </a:r>
          </a:p>
          <a:p>
            <a:pPr lvl="0" indent="0" marL="0">
              <a:buNone/>
            </a:pPr>
            <a:r>
              <a:rPr b="1"/>
              <a:t>&lt;표 10&gt; 외국인 근로자 권리 구제 주요 절차</a:t>
            </a:r>
            <a:r>
              <a:rPr/>
              <a:t> | 단계 | 내용 | 관련 기관 | | :—: | :— | :— | | 1 | 사실관계 확인 및 상담 | 지원 센터 | | 2 | 진정 및 고소 접수 | 고용노동청/경찰서 | | 3 | 체불 확인 및 지급 명령 | 노동위원회 | | 4 | 체당금 및 보험금 청구 | 근로복지공단/보험사 |</a:t>
            </a:r>
          </a:p>
          <a:p>
            <a:pPr lvl="0" indent="0" marL="0">
              <a:buNone/>
            </a:pPr>
            <a:r>
              <a:rPr b="1"/>
              <a:t>상세 설명:</a:t>
            </a:r>
            <a:r>
              <a:rPr/>
              <a:t> 고려인 동포 중 상당수가 단순 노무직에 종사하며 부당한 대우를 받는 경우가 많으므로 법적 권리를 정확히 인지하는 것이 중요합니다. 특히 언어 문제로 인해 근로계약 위반이나 임금 체불 상황에서 스스로를 방어하지 못하는 사례가 빈번합니다. 사업주는 출국만기보험 가입을 통해 퇴직금을 준비해야 하며, 근로자는 퇴직 시 보험금 수령액이 법정 퇴직금에 못 미칠 경우 그 차액을 당당히 요구할 권리가 있습니다. 이러한 법률 상담은 단순한 민원 처리를 넘어 고려인의 경제적 자립 기반을 지탱하는 핵심적인 지원입니다.</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12페이지: 정신건강 증진을 위한 특화 전략</a:t>
            </a:r>
          </a:p>
        </p:txBody>
      </p:sp>
      <p:sp>
        <p:nvSpPr>
          <p:cNvPr id="3" name="Content Placeholder 2"/>
          <p:cNvSpPr>
            <a:spLocks noGrp="1"/>
          </p:cNvSpPr>
          <p:nvPr>
            <p:ph idx="1"/>
          </p:nvPr>
        </p:nvSpPr>
        <p:spPr/>
        <p:txBody>
          <a:bodyPr/>
          <a:lstStyle/>
          <a:p>
            <a:pPr lvl="0"/>
            <a:r>
              <a:rPr b="1"/>
              <a:t>이주 전후 트라우마의 관리:</a:t>
            </a:r>
            <a:r>
              <a:rPr/>
              <a:t> 강제 이주 역사와 탈출 과정에서의 외상(Trauma)을 전문가팀을 통해 체계적으로 사정함.</a:t>
            </a:r>
          </a:p>
          <a:p>
            <a:pPr lvl="0"/>
            <a:r>
              <a:rPr b="1"/>
              <a:t>한국형 PTSD 치료 지침 적용:</a:t>
            </a:r>
            <a:r>
              <a:rPr/>
              <a:t> 최신 의학 지침에 따라 약물 치료 및 심리 상담을 병행하여 증상 완화와 삶의 질 향상을 도모함.</a:t>
            </a:r>
          </a:p>
          <a:p>
            <a:pPr lvl="0"/>
            <a:r>
              <a:rPr b="1"/>
              <a:t>지역 사회 정신건강 네트워크:</a:t>
            </a:r>
            <a:r>
              <a:rPr/>
              <a:t> 안산시처럼 보건소, 복지관, 지원 센터가 협력하여 위기 상황에 신속히 대응하는 체계를 구축함.</a:t>
            </a:r>
          </a:p>
          <a:p>
            <a:pPr lvl="0"/>
            <a:r>
              <a:rPr b="1"/>
              <a:t>문화적 차이를 고려한 상담 기법:</a:t>
            </a:r>
            <a:r>
              <a:rPr/>
              <a:t> 러시아어 상담원 배치를 통해 언어 장벽을 없애고 정서적 공감대를 형성하는 맞춤형 개입 실시.</a:t>
            </a:r>
          </a:p>
          <a:p>
            <a:pPr lvl="0"/>
            <a:r>
              <a:rPr b="1"/>
              <a:t>아동 및 청소년을 위한 예방 활동:</a:t>
            </a:r>
            <a:r>
              <a:rPr/>
              <a:t> 중도 입국 학생의 정체성 혼란과 학교 따돌림 예방을 위한 학교 기반 정신건강 프로그램 운영.</a:t>
            </a:r>
          </a:p>
          <a:p>
            <a:pPr lvl="0" indent="0" marL="0">
              <a:buNone/>
            </a:pPr>
            <a:r>
              <a:rPr b="1"/>
              <a:t>&lt;시각화 1&gt; 고려인 동포 정신건강 지원 전달체계 모델</a:t>
            </a:r>
            <a:r>
              <a:rPr/>
              <a:t> * </a:t>
            </a:r>
            <a:r>
              <a:rPr b="1"/>
              <a:t>입국 초기 (하나원):</a:t>
            </a:r>
            <a:r>
              <a:rPr/>
              <a:t> 정신보건팀 운영 → 외상 사정 및 긴급 개입. * </a:t>
            </a:r>
            <a:r>
              <a:rPr b="1"/>
              <a:t>지역 사회 안착:</a:t>
            </a:r>
            <a:r>
              <a:rPr/>
              <a:t> 정신건강복지센터 → 사례 관리 및 지역 연계. * </a:t>
            </a:r>
            <a:r>
              <a:rPr b="1"/>
              <a:t>위기 관리:</a:t>
            </a:r>
            <a:r>
              <a:rPr/>
              <a:t> 24시간 정신건강 상담전화(1577-0199) 활용.</a:t>
            </a:r>
          </a:p>
          <a:p>
            <a:pPr lvl="0" indent="0" marL="0">
              <a:buNone/>
            </a:pPr>
            <a:r>
              <a:rPr b="1"/>
              <a:t>상세 설명:</a:t>
            </a:r>
            <a:r>
              <a:rPr/>
              <a:t> 고려인 동포의 정착 성공 여부는 심리적 안정이 수반될 때 보장될 수 있습니다. 이들은 역사적·환경적 요인으로 인해 높은 수준의 우울증과 외상 후 스트레스 장애(PTSD)를 겪을 위험이 큽니다. 단순한 물리적 지원을 넘어 마음을 돌보는 정교한 서비스가 필요한 이유입니다. 지역 사회 내 전문 상담 인력과 민간 단체가 유기적으로 협력하여 사각지대에 놓인 고위험군을 조기에 발굴하고 치료로 연계하는 통합 지원 체계가 지속 가능하게 운영되어야 합니다.</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13페이지: 이주여성 보호 및 가족 안정화 방안</a:t>
            </a:r>
          </a:p>
        </p:txBody>
      </p:sp>
      <p:sp>
        <p:nvSpPr>
          <p:cNvPr id="3" name="Content Placeholder 2"/>
          <p:cNvSpPr>
            <a:spLocks noGrp="1"/>
          </p:cNvSpPr>
          <p:nvPr>
            <p:ph idx="1"/>
          </p:nvPr>
        </p:nvSpPr>
        <p:spPr/>
        <p:txBody>
          <a:bodyPr/>
          <a:lstStyle/>
          <a:p>
            <a:pPr lvl="0"/>
            <a:r>
              <a:rPr b="1"/>
              <a:t>결혼이민(F-6) 체류권 확보:</a:t>
            </a:r>
            <a:r>
              <a:rPr/>
              <a:t> 혼인 파탄의 주된 책임이 국민 배우자에게 있는 경우 이혼 후에도 계속 체류를 허용함.</a:t>
            </a:r>
          </a:p>
          <a:p>
            <a:pPr lvl="0"/>
            <a:r>
              <a:rPr b="1"/>
              <a:t>가정폭력 피해자 긴급 구조:</a:t>
            </a:r>
            <a:r>
              <a:rPr/>
              <a:t> 폭력 발생 시 112 신고와 쉼터 입소를 지원하며 무료 법률 구조 및 의료비를 제공함.</a:t>
            </a:r>
          </a:p>
          <a:p>
            <a:pPr lvl="0"/>
            <a:r>
              <a:rPr b="1"/>
              <a:t>미성년 자녀 양육권 지원:</a:t>
            </a:r>
            <a:r>
              <a:rPr/>
              <a:t> 이혼 후 자녀를 양육하는 외국인 부모에게 체류 연장 및 양육비 청구 소송을 지원함.</a:t>
            </a:r>
          </a:p>
          <a:p>
            <a:pPr lvl="0"/>
            <a:r>
              <a:rPr b="1"/>
              <a:t>국적 취득 및 특별귀화 절차:</a:t>
            </a:r>
            <a:r>
              <a:rPr/>
              <a:t> 한국인 부모의 양자로 입양된 자녀나 혼인 중인 배우자의 귀화 신청을 체계적으로 안내함.</a:t>
            </a:r>
          </a:p>
          <a:p>
            <a:pPr lvl="0"/>
            <a:r>
              <a:rPr b="1"/>
              <a:t>통보 의무 면제 제도 활용:</a:t>
            </a:r>
            <a:r>
              <a:rPr/>
              <a:t> 미등록 체류 여성이라도 범죄 피해 사실을 경찰에 신고할 경우 출입국 통보가 유예됨.</a:t>
            </a:r>
          </a:p>
          <a:p>
            <a:pPr lvl="0" indent="0" marL="0">
              <a:buNone/>
            </a:pPr>
            <a:r>
              <a:rPr b="1"/>
              <a:t>상세 설명:</a:t>
            </a:r>
            <a:r>
              <a:rPr/>
              <a:t> 이주여성 고려인은 가정 내 폭력이나 불평등한 관계에서 법적인 보호를 받지 못할까 두려워하는 경우가 많습니다. 하지만 출입국관리법과 관련 판례는 피해 여성의 인권을 보호하기 위해 다양한 안전장치를 마련해 두고 있습니다. 특히 배우자의 전적인 책임이 아니더라도 주된 책임이 있다면 체류 자격 변경이 가능하다는 점을 적극 홍보하여 이들이 폭력 상황에서 벗어날 수 있도록 도와야 합니다. 자녀 양육권 확보와 양육비 이행 명령 제도 등을 통해 가정이 해체된 이후에도 동포 여성과 자녀가 한국에서 당당히 살아갈 수 있는 기반을 제공해야 합니다.</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14페이지: 주택 임대차 분쟁 및 금융 피해 예방</a:t>
            </a:r>
          </a:p>
        </p:txBody>
      </p:sp>
      <p:sp>
        <p:nvSpPr>
          <p:cNvPr id="3" name="Content Placeholder 2"/>
          <p:cNvSpPr>
            <a:spLocks noGrp="1"/>
          </p:cNvSpPr>
          <p:nvPr>
            <p:ph idx="1"/>
          </p:nvPr>
        </p:nvSpPr>
        <p:spPr/>
        <p:txBody>
          <a:bodyPr/>
          <a:lstStyle/>
          <a:p>
            <a:pPr lvl="0"/>
            <a:r>
              <a:rPr b="1"/>
              <a:t>임차보증금 보호와 대항력 확보:</a:t>
            </a:r>
            <a:r>
              <a:rPr/>
              <a:t> 입주와 전입신고, 확정일자를 통해 후순위 채권자보다 우선하여 변제받을 권리를 가짐.</a:t>
            </a:r>
          </a:p>
          <a:p>
            <a:pPr lvl="0"/>
            <a:r>
              <a:rPr b="1"/>
              <a:t>묵시적 갱신 및 계약 해지권:</a:t>
            </a:r>
            <a:r>
              <a:rPr/>
              <a:t> 계약 만료 전 갱신 거절 통지가 없으면 동일 조건으로 연장되며 임차인은 언제든 해지 가능함.</a:t>
            </a:r>
          </a:p>
          <a:p>
            <a:pPr lvl="0"/>
            <a:r>
              <a:rPr b="1"/>
              <a:t>금융 사기 및 명의 도용 방지:</a:t>
            </a:r>
            <a:r>
              <a:rPr/>
              <a:t> 휴대폰이나 계좌 명의를 빌려주는 행위는 범죄에 악용될 수 있으며 직접 피해로 돌아옴.</a:t>
            </a:r>
          </a:p>
          <a:p>
            <a:pPr lvl="0"/>
            <a:r>
              <a:rPr b="1"/>
              <a:t>착오 송금 시 반환 청구 소송:</a:t>
            </a:r>
            <a:r>
              <a:rPr/>
              <a:t> 실수로 잘못 입금한 경우 은행을 통해 반환 요청을 하고 거부 시 부당이득금 반환 소송 진행.</a:t>
            </a:r>
          </a:p>
          <a:p>
            <a:pPr lvl="0"/>
            <a:r>
              <a:rPr b="1"/>
              <a:t>체불 임금 등 채권 추심 방법:</a:t>
            </a:r>
            <a:r>
              <a:rPr/>
              <a:t> 판결문을 토대로 사업주의 재산이나 계좌를 압류하여 실질적인 금전 수령이 가능하도록 조력함.</a:t>
            </a:r>
          </a:p>
          <a:p>
            <a:pPr lvl="0" indent="0" marL="0">
              <a:buNone/>
            </a:pPr>
            <a:r>
              <a:rPr b="1"/>
              <a:t>상세 설명:</a:t>
            </a:r>
            <a:r>
              <a:rPr/>
              <a:t> 한국의 복잡한 전세 및 월세 제도는 고려인 동포들에게 매우 생소하고 어려운 영역입니다. 보증금을 돌려받지 못하는 상황에 대비하여 임차권 등기 명령 제도나 소액 심판 청구 절차를 매뉴얼화하여 배포해야 합니다. 또한 한국어 서류에 익숙하지 않은 점을 악용한 명의 도용 사기가 빈번하므로, 신분증 관리의 중요성과 사기 대응 요령에 대한 생활 법률 교육이 강화되어야 합니다. 금융 거래의 오류가 발생했을 때 당황하지 않고 법률 구조 공단 등을 통해 조속히 대응할 수 있는 전문적인 안내 체계가 필요합니다.</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15페이지: 고려인 청소년의 학습권 및 진로 지도</a:t>
            </a:r>
          </a:p>
        </p:txBody>
      </p:sp>
      <p:sp>
        <p:nvSpPr>
          <p:cNvPr id="3" name="Content Placeholder 2"/>
          <p:cNvSpPr>
            <a:spLocks noGrp="1"/>
          </p:cNvSpPr>
          <p:nvPr>
            <p:ph idx="1"/>
          </p:nvPr>
        </p:nvSpPr>
        <p:spPr/>
        <p:txBody>
          <a:bodyPr/>
          <a:lstStyle/>
          <a:p>
            <a:pPr lvl="0"/>
            <a:r>
              <a:rPr b="1"/>
              <a:t>공교육 진입을 위한 지원 모델:</a:t>
            </a:r>
            <a:r>
              <a:rPr/>
              <a:t> 경기도와 서울시 교육청이 협력하여 한국어 중점 학교 및 예비 학교를 확대 운영함.</a:t>
            </a:r>
          </a:p>
          <a:p>
            <a:pPr lvl="0"/>
            <a:r>
              <a:rPr b="1"/>
              <a:t>이중 언어 인재로서의 잠재력:</a:t>
            </a:r>
            <a:r>
              <a:rPr/>
              <a:t> 한국어와 러시아어를 동시에 구사하는 강점을 살려 중앙아시아 교류 전문가로 육성함.</a:t>
            </a:r>
          </a:p>
          <a:p>
            <a:pPr lvl="0"/>
            <a:r>
              <a:rPr b="1"/>
              <a:t>방과 후 돌봄 및 멘토링 강화:</a:t>
            </a:r>
            <a:r>
              <a:rPr/>
              <a:t> 한국 대학생 멘토와 연계하여 학습 지도를 돕고 학교 내 따돌림 문제를 정서적으로 지원함.</a:t>
            </a:r>
          </a:p>
          <a:p>
            <a:pPr lvl="0"/>
            <a:r>
              <a:rPr b="1"/>
              <a:t>진학 및 취업 정보 제공 고도화:</a:t>
            </a:r>
            <a:r>
              <a:rPr/>
              <a:t> 국내 대학 특례 입학 정보와 기술 자격증 취득 과정을 자국어로 상세히 설명함.</a:t>
            </a:r>
          </a:p>
          <a:p>
            <a:pPr lvl="0"/>
            <a:r>
              <a:rPr b="1"/>
              <a:t>학업 중도 포기 방지 대책:</a:t>
            </a:r>
            <a:r>
              <a:rPr/>
              <a:t> 언어 부족으로 흥미를 잃은 학생들을 위해 러시아어 보조 교사를 배치하고 맞춤형 교육과정 운영.</a:t>
            </a:r>
          </a:p>
          <a:p>
            <a:pPr lvl="0" indent="0" marL="0">
              <a:buNone/>
            </a:pPr>
            <a:r>
              <a:rPr b="1"/>
              <a:t>상세 설명:</a:t>
            </a:r>
            <a:r>
              <a:rPr/>
              <a:t> 고려인 4세와 5세 청소년들은 한국 사회의 미래 인적 자원입니다. 그러나 현재는 언어 장벽과 정체성 혼란으로 인해 공교육 현장에서 밀려나고 있는 실정입니다. 이들이 한국 학교에 안착하기 위해서는 단순히 교실에 앉혀두는 것이 아니라, 초기 1~2학기 동안 집중적인 한국어와 문화 교육을 제공하는 ‘브릿지(Bridge)’ 과정이 필수적입니다. 자녀의 학교 부적응은 곧 부모의 한국 생활 만족도 하락과 이주 포기로 이어지므로, 가족 전체의 안정적인 정착을 위해서라도 청소년 교육 지원은 정책의 우선순위가 되어야 합니다.</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16페이지: 상호 문화 교류 및 인식 개선 사업</a:t>
            </a:r>
          </a:p>
        </p:txBody>
      </p:sp>
      <p:sp>
        <p:nvSpPr>
          <p:cNvPr id="3" name="Content Placeholder 2"/>
          <p:cNvSpPr>
            <a:spLocks noGrp="1"/>
          </p:cNvSpPr>
          <p:nvPr>
            <p:ph idx="1"/>
          </p:nvPr>
        </p:nvSpPr>
        <p:spPr/>
        <p:txBody>
          <a:bodyPr/>
          <a:lstStyle/>
          <a:p>
            <a:pPr lvl="0"/>
            <a:r>
              <a:rPr b="1"/>
              <a:t>한민족 정체성 확립 기념사업:</a:t>
            </a:r>
            <a:r>
              <a:rPr/>
              <a:t> 강제 이주 80주년 등 의미 있는 날에 문화제를 개최하여 민족적 자긍심을 고취함.</a:t>
            </a:r>
          </a:p>
          <a:p>
            <a:pPr lvl="0"/>
            <a:r>
              <a:rPr b="1"/>
              <a:t>선주민 대상 다문화 교육 확대:</a:t>
            </a:r>
            <a:r>
              <a:rPr/>
              <a:t> 고려인을 ’가난한 외국인’이 아닌 ’역사를 공유하는 동포’로 인식하도록 교육 콘텐츠 개발.</a:t>
            </a:r>
          </a:p>
          <a:p>
            <a:pPr lvl="0"/>
            <a:r>
              <a:rPr b="1"/>
              <a:t>공동체 사업을 통한 갈등 해결:</a:t>
            </a:r>
            <a:r>
              <a:rPr/>
              <a:t> 쓰레기 분리배출 등 생활 규칙 안내를 러시아어로 제작하고 주민 자치회 활동 참여 독려.</a:t>
            </a:r>
          </a:p>
          <a:p>
            <a:pPr lvl="0"/>
            <a:r>
              <a:rPr b="1"/>
              <a:t>고려인 역사박물관 및 전시관 건립:</a:t>
            </a:r>
            <a:r>
              <a:rPr/>
              <a:t> 고려인의 이주사와 생활사를 보존하여 선주민과 후세들에게 교육의 장으로 활용함.</a:t>
            </a:r>
          </a:p>
          <a:p>
            <a:pPr lvl="0"/>
            <a:r>
              <a:rPr b="1"/>
              <a:t>전국 규모의 고려인 네트워크 활성화:</a:t>
            </a:r>
            <a:r>
              <a:rPr/>
              <a:t> 지역별 고려인 모임을 연계하여 정책 제안 및 정보 교류의 장(Platform)으로 육성함.</a:t>
            </a:r>
          </a:p>
          <a:p>
            <a:pPr lvl="0" indent="0" marL="0">
              <a:buNone/>
            </a:pPr>
            <a:r>
              <a:rPr b="1"/>
              <a:t>상세 설명:</a:t>
            </a:r>
            <a:r>
              <a:rPr/>
              <a:t> 고려인 동포에 대한 우리 사회의 인식은 여전히 차가운 편입니다. 말투가 이상하거나 가난한 나라에서 왔다는 편견을 버리고, 이들이 항일 독립운동가의 후손이자 우리와 피를 나눈 가족임을 잊지 말아야 합니다. 상호 문화 교류는 일방적인 가르침이 아니라 서로의 차이를 인정하는 것에서 시작됩니다. 러시아 요리 교실이나 고려인 아리랑 공연 등을 통해 선주민들이 자연스럽게 이들의 문화를 접하게 함으로써 정서적 유대감을 쌓고 사회 통합의 기반을 마련해야 합니다.</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17페이지: 지자체별 고려인 지원 우수 사례</a:t>
            </a:r>
          </a:p>
        </p:txBody>
      </p:sp>
      <p:sp>
        <p:nvSpPr>
          <p:cNvPr id="3" name="Content Placeholder 2"/>
          <p:cNvSpPr>
            <a:spLocks noGrp="1"/>
          </p:cNvSpPr>
          <p:nvPr>
            <p:ph idx="1"/>
          </p:nvPr>
        </p:nvSpPr>
        <p:spPr/>
        <p:txBody>
          <a:bodyPr/>
          <a:lstStyle/>
          <a:p>
            <a:pPr lvl="0"/>
            <a:r>
              <a:rPr b="1"/>
              <a:t>안산시 고려인 문화센터 운영:</a:t>
            </a:r>
            <a:r>
              <a:rPr/>
              <a:t> 사단법인 ’너머’와 협력하여 교육, 상담, 커뮤니티 활동을 종합적으로 지원함.</a:t>
            </a:r>
          </a:p>
          <a:p>
            <a:pPr lvl="0"/>
            <a:r>
              <a:rPr b="1"/>
              <a:t>광주광역시 고려인마을 성공 모델:</a:t>
            </a:r>
            <a:r>
              <a:rPr/>
              <a:t> 미디어 센터, 진료소, 어린이집 등을 주민들이 직접 운영하며 공동체 의식을 강화함.</a:t>
            </a:r>
          </a:p>
          <a:p>
            <a:pPr lvl="0"/>
            <a:r>
              <a:rPr b="1"/>
              <a:t>인천 연수구 함박마을의 변화:</a:t>
            </a:r>
            <a:r>
              <a:rPr/>
              <a:t> 급증하는 동포 인구에 맞춰 다문화 서포터즈와 민관 협의체를 통한 지역 활성화 추진.</a:t>
            </a:r>
          </a:p>
          <a:p>
            <a:pPr lvl="0"/>
            <a:r>
              <a:rPr b="1"/>
              <a:t>서울시 중구·동대문구의 역할:</a:t>
            </a:r>
            <a:r>
              <a:rPr/>
              <a:t> 러시아어권 비즈니스 지원과 글로벌 센터를 통한 초기 적응 교육 서비스 제공.</a:t>
            </a:r>
          </a:p>
          <a:p>
            <a:pPr lvl="0"/>
            <a:r>
              <a:rPr b="1"/>
              <a:t>경기도 도립병원의 의료 지원:</a:t>
            </a:r>
            <a:r>
              <a:rPr/>
              <a:t> 소외 계층 동포를 대상으로 검진 및 진료비를 감면해주는 등의 인도적 지원 실시.</a:t>
            </a:r>
          </a:p>
          <a:p>
            <a:pPr lvl="0" indent="0" marL="0">
              <a:buNone/>
            </a:pPr>
            <a:r>
              <a:rPr b="1"/>
              <a:t>상세 설명:</a:t>
            </a:r>
            <a:r>
              <a:rPr/>
              <a:t> 지역별로 고려인 동포의 밀집도와 특성이 다르므로 지자체별 맞춤형 지원 모델이 활발히 연구되고 있습니다. 안산시는 전국에서 가장 규모 있는 민관 협력 사례를 보여주고 있으며, 광주광역시는 주민들이 스스로 일구어낸 공동체 중심의 성장이 돋보입니다. 이러한 우수 사례들을 벤치마킹하여 전국 지자체들이 지역 상황에 맞는 조례를 제정하고 지원 센터를 설립할 수 있도록 가이드를 제공해야 합니다. 특히 서울과 같이 분산 거주하는 지역은 거점 센터를 중심으로 온·오프라인 네트워크를 결합한 새로운 지원 방식이 요구됩니다.</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18페이지: 자동차 및 교통 안전 관련 생활 상담</a:t>
            </a:r>
          </a:p>
        </p:txBody>
      </p:sp>
      <p:sp>
        <p:nvSpPr>
          <p:cNvPr id="3" name="Content Placeholder 2"/>
          <p:cNvSpPr>
            <a:spLocks noGrp="1"/>
          </p:cNvSpPr>
          <p:nvPr>
            <p:ph idx="1"/>
          </p:nvPr>
        </p:nvSpPr>
        <p:spPr/>
        <p:txBody>
          <a:bodyPr/>
          <a:lstStyle/>
          <a:p>
            <a:pPr lvl="0"/>
            <a:r>
              <a:rPr b="1"/>
              <a:t>무면허 운전의 위험성 교육:</a:t>
            </a:r>
            <a:r>
              <a:rPr/>
              <a:t> 외국 면허증만으로는 국내 운전이 불가하며 반드시 국내 면허로 교환 발급받아야 함.</a:t>
            </a:r>
          </a:p>
          <a:p>
            <a:pPr lvl="0"/>
            <a:r>
              <a:rPr b="1"/>
              <a:t>대포차 피해 예방과 등록:</a:t>
            </a:r>
            <a:r>
              <a:rPr/>
              <a:t> 타인 명의 차량 구매는 불법이며 사고 시 보험 보장을 받지 못하고 형사 처벌 대상이 됨.</a:t>
            </a:r>
          </a:p>
          <a:p>
            <a:pPr lvl="0"/>
            <a:r>
              <a:rPr b="1"/>
              <a:t>교통사고 발생 시 조치 요령:</a:t>
            </a:r>
            <a:r>
              <a:rPr/>
              <a:t> 인명 피해 시 즉시 구호 활동을 하고 경찰 및 보험사에 신고하여 뺑소니 혐의를 피해야 함.</a:t>
            </a:r>
          </a:p>
          <a:p>
            <a:pPr lvl="0"/>
            <a:r>
              <a:rPr b="1"/>
              <a:t>자동차 보험의 중요성 안내:</a:t>
            </a:r>
            <a:r>
              <a:rPr/>
              <a:t> 책임보험뿐 아니라 종합보험에 가입하여 사고로 인한 막대한 경제적 손실을 방지함.</a:t>
            </a:r>
          </a:p>
          <a:p>
            <a:pPr lvl="0"/>
            <a:r>
              <a:rPr b="1"/>
              <a:t>폐차 및 과태료 처리 방법:</a:t>
            </a:r>
            <a:r>
              <a:rPr/>
              <a:t> 차량 방치는 범죄가 될 수 있으므로 적법한 폐차장 이용과 세금 완납 절차를 거쳐야 함.</a:t>
            </a:r>
          </a:p>
          <a:p>
            <a:pPr lvl="0" indent="0" marL="0">
              <a:buNone/>
            </a:pPr>
            <a:r>
              <a:rPr b="1"/>
              <a:t>상세 설명:</a:t>
            </a:r>
            <a:r>
              <a:rPr/>
              <a:t> 고려인 동포들이 일상에서 가장 흔히 겪는 법적 문제 중 하나가 교통 관련 위반입니다. 한국의 교통 법규를 잘 알지 못한 채 운전을 하거나, 저렴한 가격에 유혹되어 이른바 ’대포차’를 구매했다가 낭패를 보는 사례가 많습니다. 이는 단순한 과태료를 넘어 출입국 사범 심사 시 불이익을 주어 강제 퇴거의 원인이 되기도 합니다. 운전면허 교환 발급 절차와 자동차 관리의 기초 상식을 자국어로 교육하고, 사고 발생 시 권익을 보호받을 수 있는 상담 창구를 상시 운영해야 합니다.</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19페이지: 향후 정책적 제언 및 실행 과제</a:t>
            </a:r>
          </a:p>
        </p:txBody>
      </p:sp>
      <p:sp>
        <p:nvSpPr>
          <p:cNvPr id="3" name="Content Placeholder 2"/>
          <p:cNvSpPr>
            <a:spLocks noGrp="1"/>
          </p:cNvSpPr>
          <p:nvPr>
            <p:ph idx="1"/>
          </p:nvPr>
        </p:nvSpPr>
        <p:spPr/>
        <p:txBody>
          <a:bodyPr/>
          <a:lstStyle/>
          <a:p>
            <a:pPr lvl="0"/>
            <a:r>
              <a:rPr b="1"/>
              <a:t>사회권 보장을 위한 법적 지위 향상:</a:t>
            </a:r>
            <a:r>
              <a:rPr/>
              <a:t> 영주권 취득 요건 완화와 건강보험 제도 개선으로 기본적인 삶의 권리를 보호함.</a:t>
            </a:r>
          </a:p>
          <a:p>
            <a:pPr lvl="0"/>
            <a:r>
              <a:rPr b="1"/>
              <a:t>가족 정주형 정착 지원 시스템:</a:t>
            </a:r>
            <a:r>
              <a:rPr/>
              <a:t> 단기 노동 인력이 아닌 장기 거주 시민으로서 교육과 보육 서비스를 포괄적으로 제공함.</a:t>
            </a:r>
          </a:p>
          <a:p>
            <a:pPr lvl="0"/>
            <a:r>
              <a:rPr b="1"/>
              <a:t>역사적 책임 의식에 기반한 당위성:</a:t>
            </a:r>
            <a:r>
              <a:rPr/>
              <a:t> 독립운동가 후손에 대한 예우 차원에서 정부의 적극적인 보호 의무를 강화함.</a:t>
            </a:r>
          </a:p>
          <a:p>
            <a:pPr lvl="0"/>
            <a:r>
              <a:rPr b="1"/>
              <a:t>상호 문화 교류의 장(Platform) 구축:</a:t>
            </a:r>
            <a:r>
              <a:rPr/>
              <a:t> 선주민과 이주민이 함께 참여하는 마을 공동체 사업을 통해 사회 통합을 실현함.</a:t>
            </a:r>
          </a:p>
          <a:p>
            <a:pPr lvl="0"/>
            <a:r>
              <a:rPr b="1"/>
              <a:t>현장 중심의 원스톱 서비스 제공:</a:t>
            </a:r>
            <a:r>
              <a:rPr/>
              <a:t> 상담, 교육, 의료, 법률이 결합된 통합 지원 센터를 거주 지역별로 설립·운영함.</a:t>
            </a:r>
          </a:p>
          <a:p>
            <a:pPr lvl="0" indent="0" marL="0">
              <a:buNone/>
            </a:pPr>
            <a:r>
              <a:rPr b="1"/>
              <a:t>상세 설명:</a:t>
            </a:r>
            <a:r>
              <a:rPr/>
              <a:t> 고려인 동포 정책의 지향점은 ’외국인 관리’에서 ’동포 정착’으로 전환되어야 합니다. 이들은 단순한 노동력이 아니라, 한민족 공동체의 소중한 일원입니다. 따라서 체류 자격의 불안정을 해소하고, 자녀들이 한국에서 꿈을 펼칠 수 있는 교육 환경을 조성하는 것이 국가적 책무입니다. 경기도와 서울시 등 지자체는 조례 개정을 통해 지원의 사각지대를 없애고, 민간 단체와의 거버넌스를 구축하여 실질적인 도움을 줄 수 있는 행정 서비스를 제공해야 합니다. 고려인의 안정적인 정착은 우리 사회의 다양성을 풍부하게 하고 북방 경제 시대의 소중한 가교가 될 것입니다.</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20페이지: 결론 - 한민족 동포와의 동행</a:t>
            </a:r>
          </a:p>
        </p:txBody>
      </p:sp>
      <p:sp>
        <p:nvSpPr>
          <p:cNvPr id="3" name="Content Placeholder 2"/>
          <p:cNvSpPr>
            <a:spLocks noGrp="1"/>
          </p:cNvSpPr>
          <p:nvPr>
            <p:ph idx="1"/>
          </p:nvPr>
        </p:nvSpPr>
        <p:spPr/>
        <p:txBody>
          <a:bodyPr/>
          <a:lstStyle/>
          <a:p>
            <a:pPr lvl="0"/>
            <a:r>
              <a:rPr b="1"/>
              <a:t>고려인 동포의 존재 가치 재정립:</a:t>
            </a:r>
            <a:r>
              <a:rPr/>
              <a:t> 고난의 역사를 극복하고 고국으로 돌아온 소중한 인적 자산이자 가족으로 대우함.</a:t>
            </a:r>
          </a:p>
          <a:p>
            <a:pPr lvl="0"/>
            <a:r>
              <a:rPr b="1"/>
              <a:t>체계적인 실태 파악의 지속성:</a:t>
            </a:r>
            <a:r>
              <a:rPr/>
              <a:t> 주기적인 조사를 통해 변화하는 동포들의 욕구를 정책에 즉각 반영하는 시스템 마련.</a:t>
            </a:r>
          </a:p>
          <a:p>
            <a:pPr lvl="0"/>
            <a:r>
              <a:rPr b="1"/>
              <a:t>법과 조례의 실효성 확보:</a:t>
            </a:r>
            <a:r>
              <a:rPr/>
              <a:t> 선언적인 문구를 넘어 예산 지원과 전담 기구 설치로 실질적인 변화를 이끌어냄.</a:t>
            </a:r>
          </a:p>
          <a:p>
            <a:pPr lvl="0"/>
            <a:r>
              <a:rPr b="1"/>
              <a:t>함께 살아가는 지역 사회 조성:</a:t>
            </a:r>
            <a:r>
              <a:rPr/>
              <a:t> 편견을 허물고 이웃으로 받아들이는 성숙한 시민 의식과 문화다양성 확산.</a:t>
            </a:r>
          </a:p>
          <a:p>
            <a:pPr lvl="0"/>
            <a:r>
              <a:rPr b="1"/>
              <a:t>고국에서의 행복한 삶 보장:</a:t>
            </a:r>
            <a:r>
              <a:rPr/>
              <a:t> 80년의 유랑을 끝내고 할아버지의 나라에서 안심하고 살 수 있는 환경을 완성함.</a:t>
            </a:r>
          </a:p>
          <a:p>
            <a:pPr lvl="0" indent="0" marL="0">
              <a:buNone/>
            </a:pPr>
            <a:r>
              <a:rPr b="1"/>
              <a:t>상세 설명:</a:t>
            </a:r>
            <a:r>
              <a:rPr/>
              <a:t> 고려인 동포들이 겪는 모든 문제는 결국 우리가 이들을 어떻게 바라보느냐에 달려 있습니다. 단순히 말을 못 하는 이방인으로 보느냐, 아니면 아픈 역사를 공유한 동지로 보느냐의 차이입니다. 이제 우리 사회는 고려인들이 ’언어의 섬’에 갇히지 않도록 먼저 손을 내밀어야 합니다. 이들이 한국에서 일하고, 자녀를 키우며 행복하게 살아가는 모습은 우리 사회가 얼마나 성숙하고 포용적인지를 보여주는 거울이 될 것입니다. 80년 전 강제 이주 열차의 아픔을 이제 고국에서의 따뜻한 환대로 갚아주어야 할 때입니다.</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2025-12-24T06:03:17Z</dcterms:created>
  <dcterms:modified xsi:type="dcterms:W3CDTF">2025-12-24T06:03:17Z</dcterms:modified>
</cp:coreProperties>
</file>

<file path=docProps/custom.xml><?xml version="1.0" encoding="utf-8"?>
<Properties xmlns="http://schemas.openxmlformats.org/officeDocument/2006/custom-properties" xmlns:vt="http://schemas.openxmlformats.org/officeDocument/2006/docPropsVTypes"/>
</file>